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1.svg" ContentType="image/svg+xml"/>
  <Override PartName="/ppt/media/image103.svg" ContentType="image/svg+xml"/>
  <Override PartName="/ppt/media/image106.svg" ContentType="image/svg+xml"/>
  <Override PartName="/ppt/media/image108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9.svg" ContentType="image/svg+xml"/>
  <Override PartName="/ppt/media/image29.svg" ContentType="image/svg+xml"/>
  <Override PartName="/ppt/media/image31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3.svg" ContentType="image/svg+xml"/>
  <Override PartName="/ppt/media/image46.svg" ContentType="image/svg+xml"/>
  <Override PartName="/ppt/media/image50.svg" ContentType="image/svg+xml"/>
  <Override PartName="/ppt/media/image52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5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16.svg"/><Relationship Id="rId14" Type="http://schemas.openxmlformats.org/officeDocument/2006/relationships/image" Target="../media/image15.png"/><Relationship Id="rId13" Type="http://schemas.openxmlformats.org/officeDocument/2006/relationships/image" Target="../media/image14.svg"/><Relationship Id="rId12" Type="http://schemas.openxmlformats.org/officeDocument/2006/relationships/image" Target="../media/image13.png"/><Relationship Id="rId11" Type="http://schemas.openxmlformats.org/officeDocument/2006/relationships/image" Target="../media/image12.sv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0.jpeg"/><Relationship Id="rId4" Type="http://schemas.openxmlformats.org/officeDocument/2006/relationships/image" Target="../media/image19.svg"/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3.jpeg"/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1.svg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image" Target="../media/image38.svg"/><Relationship Id="rId7" Type="http://schemas.openxmlformats.org/officeDocument/2006/relationships/image" Target="../media/image37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40.sv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7.jpeg"/><Relationship Id="rId8" Type="http://schemas.openxmlformats.org/officeDocument/2006/relationships/image" Target="../media/image22.jpeg"/><Relationship Id="rId7" Type="http://schemas.openxmlformats.org/officeDocument/2006/relationships/image" Target="../media/image46.svg"/><Relationship Id="rId6" Type="http://schemas.openxmlformats.org/officeDocument/2006/relationships/image" Target="../media/image45.png"/><Relationship Id="rId5" Type="http://schemas.openxmlformats.org/officeDocument/2006/relationships/image" Target="../media/image44.jpeg"/><Relationship Id="rId4" Type="http://schemas.openxmlformats.org/officeDocument/2006/relationships/image" Target="../media/image43.svg"/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52.svg"/><Relationship Id="rId7" Type="http://schemas.openxmlformats.org/officeDocument/2006/relationships/image" Target="../media/image51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50.svg"/><Relationship Id="rId3" Type="http://schemas.openxmlformats.org/officeDocument/2006/relationships/image" Target="../media/image49.png"/><Relationship Id="rId2" Type="http://schemas.openxmlformats.org/officeDocument/2006/relationships/image" Target="../media/image48.jpe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7.jpeg"/><Relationship Id="rId4" Type="http://schemas.openxmlformats.org/officeDocument/2006/relationships/image" Target="../media/image54.jpeg"/><Relationship Id="rId3" Type="http://schemas.openxmlformats.org/officeDocument/2006/relationships/image" Target="../media/image53.jpeg"/><Relationship Id="rId2" Type="http://schemas.openxmlformats.org/officeDocument/2006/relationships/image" Target="../media/image24.jpe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7.jpeg"/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2.svg"/><Relationship Id="rId6" Type="http://schemas.openxmlformats.org/officeDocument/2006/relationships/image" Target="../media/image61.png"/><Relationship Id="rId5" Type="http://schemas.openxmlformats.org/officeDocument/2006/relationships/image" Target="../media/image60.svg"/><Relationship Id="rId4" Type="http://schemas.openxmlformats.org/officeDocument/2006/relationships/image" Target="../media/image59.png"/><Relationship Id="rId3" Type="http://schemas.openxmlformats.org/officeDocument/2006/relationships/image" Target="../media/image14.svg"/><Relationship Id="rId2" Type="http://schemas.openxmlformats.org/officeDocument/2006/relationships/image" Target="../media/image58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6.jpeg"/><Relationship Id="rId4" Type="http://schemas.openxmlformats.org/officeDocument/2006/relationships/image" Target="../media/image65.svg"/><Relationship Id="rId3" Type="http://schemas.openxmlformats.org/officeDocument/2006/relationships/image" Target="../media/image64.png"/><Relationship Id="rId2" Type="http://schemas.openxmlformats.org/officeDocument/2006/relationships/image" Target="../media/image63.jpe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73.svg"/><Relationship Id="rId7" Type="http://schemas.openxmlformats.org/officeDocument/2006/relationships/image" Target="../media/image72.png"/><Relationship Id="rId6" Type="http://schemas.openxmlformats.org/officeDocument/2006/relationships/image" Target="../media/image71.svg"/><Relationship Id="rId5" Type="http://schemas.openxmlformats.org/officeDocument/2006/relationships/image" Target="../media/image70.png"/><Relationship Id="rId4" Type="http://schemas.openxmlformats.org/officeDocument/2006/relationships/image" Target="../media/image69.jpeg"/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1.svg"/><Relationship Id="rId8" Type="http://schemas.openxmlformats.org/officeDocument/2006/relationships/image" Target="../media/image80.png"/><Relationship Id="rId7" Type="http://schemas.openxmlformats.org/officeDocument/2006/relationships/image" Target="../media/image79.svg"/><Relationship Id="rId6" Type="http://schemas.openxmlformats.org/officeDocument/2006/relationships/image" Target="../media/image78.png"/><Relationship Id="rId5" Type="http://schemas.openxmlformats.org/officeDocument/2006/relationships/image" Target="../media/image77.svg"/><Relationship Id="rId4" Type="http://schemas.openxmlformats.org/officeDocument/2006/relationships/image" Target="../media/image76.png"/><Relationship Id="rId3" Type="http://schemas.openxmlformats.org/officeDocument/2006/relationships/image" Target="../media/image75.svg"/><Relationship Id="rId2" Type="http://schemas.openxmlformats.org/officeDocument/2006/relationships/image" Target="../media/image74.png"/><Relationship Id="rId11" Type="http://schemas.openxmlformats.org/officeDocument/2006/relationships/notesSlide" Target="../notesSlides/notesSlide15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7.svg"/><Relationship Id="rId8" Type="http://schemas.openxmlformats.org/officeDocument/2006/relationships/image" Target="../media/image86.png"/><Relationship Id="rId7" Type="http://schemas.openxmlformats.org/officeDocument/2006/relationships/image" Target="../media/image14.svg"/><Relationship Id="rId6" Type="http://schemas.openxmlformats.org/officeDocument/2006/relationships/image" Target="../media/image58.png"/><Relationship Id="rId5" Type="http://schemas.openxmlformats.org/officeDocument/2006/relationships/image" Target="../media/image85.svg"/><Relationship Id="rId4" Type="http://schemas.openxmlformats.org/officeDocument/2006/relationships/image" Target="../media/image84.png"/><Relationship Id="rId3" Type="http://schemas.openxmlformats.org/officeDocument/2006/relationships/image" Target="../media/image83.svg"/><Relationship Id="rId2" Type="http://schemas.openxmlformats.org/officeDocument/2006/relationships/image" Target="../media/image82.png"/><Relationship Id="rId11" Type="http://schemas.openxmlformats.org/officeDocument/2006/relationships/notesSlide" Target="../notesSlides/notesSlide16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87.svg"/><Relationship Id="rId8" Type="http://schemas.openxmlformats.org/officeDocument/2006/relationships/image" Target="../media/image86.png"/><Relationship Id="rId7" Type="http://schemas.openxmlformats.org/officeDocument/2006/relationships/image" Target="../media/image92.svg"/><Relationship Id="rId6" Type="http://schemas.openxmlformats.org/officeDocument/2006/relationships/image" Target="../media/image91.png"/><Relationship Id="rId5" Type="http://schemas.openxmlformats.org/officeDocument/2006/relationships/image" Target="../media/image90.svg"/><Relationship Id="rId4" Type="http://schemas.openxmlformats.org/officeDocument/2006/relationships/image" Target="../media/image89.png"/><Relationship Id="rId3" Type="http://schemas.openxmlformats.org/officeDocument/2006/relationships/image" Target="../media/image19.svg"/><Relationship Id="rId2" Type="http://schemas.openxmlformats.org/officeDocument/2006/relationships/image" Target="../media/image88.png"/><Relationship Id="rId15" Type="http://schemas.openxmlformats.org/officeDocument/2006/relationships/notesSlide" Target="../notesSlides/notesSlide17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96.svg"/><Relationship Id="rId12" Type="http://schemas.openxmlformats.org/officeDocument/2006/relationships/image" Target="../media/image95.png"/><Relationship Id="rId11" Type="http://schemas.openxmlformats.org/officeDocument/2006/relationships/image" Target="../media/image94.svg"/><Relationship Id="rId10" Type="http://schemas.openxmlformats.org/officeDocument/2006/relationships/image" Target="../media/image93.pn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99.svg"/><Relationship Id="rId6" Type="http://schemas.openxmlformats.org/officeDocument/2006/relationships/image" Target="../media/image98.png"/><Relationship Id="rId5" Type="http://schemas.openxmlformats.org/officeDocument/2006/relationships/image" Target="../media/image90.svg"/><Relationship Id="rId4" Type="http://schemas.openxmlformats.org/officeDocument/2006/relationships/image" Target="../media/image89.png"/><Relationship Id="rId3" Type="http://schemas.openxmlformats.org/officeDocument/2006/relationships/image" Target="../media/image16.svg"/><Relationship Id="rId2" Type="http://schemas.openxmlformats.org/officeDocument/2006/relationships/image" Target="../media/image97.png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.svg"/><Relationship Id="rId6" Type="http://schemas.openxmlformats.org/officeDocument/2006/relationships/image" Target="../media/image104.png"/><Relationship Id="rId5" Type="http://schemas.openxmlformats.org/officeDocument/2006/relationships/image" Target="../media/image103.svg"/><Relationship Id="rId4" Type="http://schemas.openxmlformats.org/officeDocument/2006/relationships/image" Target="../media/image102.png"/><Relationship Id="rId3" Type="http://schemas.openxmlformats.org/officeDocument/2006/relationships/image" Target="../media/image101.svg"/><Relationship Id="rId2" Type="http://schemas.openxmlformats.org/officeDocument/2006/relationships/image" Target="../media/image100.png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09.png"/><Relationship Id="rId5" Type="http://schemas.openxmlformats.org/officeDocument/2006/relationships/image" Target="../media/image108.svg"/><Relationship Id="rId4" Type="http://schemas.openxmlformats.org/officeDocument/2006/relationships/image" Target="../media/image107.png"/><Relationship Id="rId3" Type="http://schemas.openxmlformats.org/officeDocument/2006/relationships/image" Target="../media/image106.svg"/><Relationship Id="rId2" Type="http://schemas.openxmlformats.org/officeDocument/2006/relationships/image" Target="../media/image105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1905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50000"/>
              </a:srgbClr>
            </a:outerShdw>
          </a:effectLst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AI智能证件照生成与优化系统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27305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DCE1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基于HivisionIDPhotos开源框架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334000" y="3365500"/>
            <a:ext cx="1524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r="2700000" algn="tl" rotWithShape="0">
              <a:srgbClr val="007BFF">
                <a:alpha val="6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08000" y="3683000"/>
            <a:ext cx="1117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8F9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团队成员：高泽宇 龚剑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8F9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项目负责人：肖清越</a:t>
            </a:r>
            <a:endParaRPr lang="en-US" sz="1600" b="0" i="0" u="none" strike="noStrike">
              <a:solidFill>
                <a:srgbClr val="F8F9F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7BFF">
                  <a:alpha val="0"/>
                </a:srgbClr>
              </a:gs>
              <a:gs pos="50000">
                <a:srgbClr val="007BFF">
                  <a:alpha val="100000"/>
                </a:srgbClr>
              </a:gs>
              <a:gs pos="100000">
                <a:srgbClr val="007B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3556000" y="1143000"/>
            <a:ext cx="7366000" cy="558800"/>
          </a:xfrm>
          <a:prstGeom prst="roundRect">
            <a:avLst>
              <a:gd name="adj" fmla="val 2272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59200" y="1270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4191000" y="1244600"/>
            <a:ext cx="635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项目概述</a:t>
            </a:r>
            <a:r>
              <a:rPr lang="en-US" sz="1400" b="0" i="0" u="none" strike="noStrike">
                <a:solidFill>
                  <a:srgbClr val="6C757D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Project Overview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556000" y="1803400"/>
            <a:ext cx="7366000" cy="558800"/>
          </a:xfrm>
          <a:prstGeom prst="roundRect">
            <a:avLst>
              <a:gd name="adj" fmla="val 2272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9200" y="19304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191000" y="1905000"/>
            <a:ext cx="635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市场痛点分析</a:t>
            </a:r>
            <a:r>
              <a:rPr lang="en-US" sz="1400" b="0" i="0" u="none" strike="noStrike">
                <a:solidFill>
                  <a:srgbClr val="6C757D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Market Pain Points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56000" y="2463800"/>
            <a:ext cx="7366000" cy="558800"/>
          </a:xfrm>
          <a:prstGeom prst="roundRect">
            <a:avLst>
              <a:gd name="adj" fmla="val 2272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59200" y="25908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191000" y="2565400"/>
            <a:ext cx="635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产品介绍</a:t>
            </a:r>
            <a:r>
              <a:rPr lang="en-US" sz="1400" b="0" i="0" u="none" strike="noStrike">
                <a:solidFill>
                  <a:srgbClr val="6C757D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Product Introduction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556000" y="3124200"/>
            <a:ext cx="7366000" cy="558800"/>
          </a:xfrm>
          <a:prstGeom prst="roundRect">
            <a:avLst>
              <a:gd name="adj" fmla="val 2272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59200" y="32512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191000" y="3225800"/>
            <a:ext cx="635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营销策略</a:t>
            </a:r>
            <a:r>
              <a:rPr lang="en-US" sz="1400" b="0" i="0" u="none" strike="noStrike">
                <a:solidFill>
                  <a:srgbClr val="6C757D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Marketing Strategy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556000" y="3784600"/>
            <a:ext cx="7366000" cy="558800"/>
          </a:xfrm>
          <a:prstGeom prst="roundRect">
            <a:avLst>
              <a:gd name="adj" fmla="val 2272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59200" y="39116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4191000" y="3886200"/>
            <a:ext cx="635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SWOT分析</a:t>
            </a:r>
            <a:r>
              <a:rPr lang="en-US" sz="1400" b="0" i="0" u="none" strike="noStrike">
                <a:solidFill>
                  <a:srgbClr val="6C757D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SWOT Analysis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556000" y="4445000"/>
            <a:ext cx="7366000" cy="558800"/>
          </a:xfrm>
          <a:prstGeom prst="roundRect">
            <a:avLst>
              <a:gd name="adj" fmla="val 2272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59200" y="4572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4191000" y="4546600"/>
            <a:ext cx="635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06. 风险分析及应对</a:t>
            </a:r>
            <a:r>
              <a:rPr lang="en-US" sz="1400" b="0" i="0" u="none" strike="noStrike">
                <a:solidFill>
                  <a:srgbClr val="6C757D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Risk Analysis &amp; Response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556000" y="5105400"/>
            <a:ext cx="7366000" cy="558800"/>
          </a:xfrm>
          <a:prstGeom prst="roundRect">
            <a:avLst>
              <a:gd name="adj" fmla="val 22727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blurRad="508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759200" y="52324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4191000" y="5207000"/>
            <a:ext cx="635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07. 未来计划</a:t>
            </a:r>
            <a:r>
              <a:rPr lang="en-US" sz="1400" b="0" i="0" u="none" strike="noStrike">
                <a:solidFill>
                  <a:srgbClr val="6C757D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Future Plan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201168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32000" y="2032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889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项目目标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429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开发基于开源轻量级AI框架的智能证件照系统。用户上传自拍即可在本地完成全流程处理，输出专业证件照，实现隐私零泄露、专业一秒出图。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778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0" y="2032000"/>
            <a:ext cx="762000" cy="762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572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3429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以纯CPU离线推理为核心，单张照片处理时间控制在1秒以内。核心创新在于智能自适应美颜算法，确保处理速度与效果兼得。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rcRect l="16666" r="16666"/>
          <a:stretch>
            <a:fillRect/>
          </a:stretch>
        </p:blipFill>
        <p:spPr>
          <a:xfrm>
            <a:off x="9398000" y="2032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8255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社会价值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3429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预计每年帮助上亿人次节省成本和时间。通过无障碍设计助力老年人、视障人士实现数字平等，积极响应碳中和与数字中国战略。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核心技术优势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905000" y="2159000"/>
            <a:ext cx="1016000" cy="1016000"/>
          </a:xfrm>
          <a:prstGeom prst="ellipse">
            <a:avLst/>
          </a:prstGeom>
          <a:solidFill>
            <a:srgbClr val="007B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108200" y="23622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889000" y="3302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纯CPU离线推理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746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无需昂贵GPU资源，普通设备即可流畅运行，单张照片处理&lt;1秒，降低门槛且绿色低碳。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1905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588000" y="2159000"/>
            <a:ext cx="1016000" cy="1016000"/>
          </a:xfrm>
          <a:prstGeom prst="ellipse">
            <a:avLst/>
          </a:prstGeom>
          <a:solidFill>
            <a:srgbClr val="007B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791200" y="23622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4572000" y="3302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智能自适应美颜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99000" y="3746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根据光照条件动态调整参数，有效解决暗光、逆光等问题，实现专业级“所见即所得”。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1905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271000" y="2159000"/>
            <a:ext cx="1016000" cy="1016000"/>
          </a:xfrm>
          <a:prstGeom prst="ellipse">
            <a:avLst/>
          </a:prstGeom>
          <a:solidFill>
            <a:srgbClr val="007B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474200" y="23622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8255000" y="3302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跨平台一键部署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82000" y="3746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基于Dockerfile构建镜像，支持小程序、Web端和App多端发布，快速覆盖全场景。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30226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市场痛点分析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2476500" cy="3302000"/>
          </a:xfrm>
          <a:prstGeom prst="roundRect">
            <a:avLst>
              <a:gd name="adj" fmla="val 512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93850" y="2032000"/>
            <a:ext cx="812800" cy="812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889000" y="2921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隐私泄露风险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3655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主流在线工具普遍要求上传照片至云端，导致人脸生物信息面临滥用和泄露风险，超60%用户拒绝使用。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1778000"/>
            <a:ext cx="2476500" cy="3302000"/>
          </a:xfrm>
          <a:prstGeom prst="roundRect">
            <a:avLst>
              <a:gd name="adj" fmla="val 512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24350" y="2032000"/>
            <a:ext cx="812800" cy="812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3619500" y="2921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操作门槛高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19500" y="33655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传统工具对复杂背景、姿态和光线处理效果差，退片率高达20%以上，用户需多次重拍或后期处理。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778000"/>
            <a:ext cx="2476500" cy="3302000"/>
          </a:xfrm>
          <a:prstGeom prst="roundRect">
            <a:avLst>
              <a:gd name="adj" fmla="val 512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054850" y="2032000"/>
            <a:ext cx="812800" cy="812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6350000" y="2921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成本与效率低下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33655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线下照相馆收费高、耗时长，每年上亿证件照需求群体面临巨大的时间和金钱成本。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953500" y="1778000"/>
            <a:ext cx="2476500" cy="3302000"/>
          </a:xfrm>
          <a:prstGeom prst="roundRect">
            <a:avLst>
              <a:gd name="adj" fmla="val 512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785350" y="2032000"/>
            <a:ext cx="812800" cy="812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9080500" y="2921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包容性严重不足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080500" y="33655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缺乏针对老年人、残障人士的辅助设计，加剧了数字鸿沟，使得这部分群体难以便捷使用服务。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3022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痛点形成原因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9000" y="2032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16000" y="2667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技术限制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175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现有工具过度依赖云端集中式处理，本地轻量模型开发不足，导致难以有效处理复杂场景下的边缘计算需求。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2000" y="2032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699000" y="2667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信任与悖论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3175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用户隐私意识显著提升，但对新兴AI工具信任度低；同时存在行为悖论，常为了短期便利而无奈妥协隐私安全。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0" y="2032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382000" y="2667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供需错配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3175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传统照相馆数字化转型缓慢，而在线App普遍以盈利为先，忽视隐私保护与无障碍设计，导致市场供给无法匹配用户真实需求。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334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7B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546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C757D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技术瓶颈、用户信任缺失与市场结构性失衡，共同构成了当前行业的核心痛点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3530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市场规模与潜力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24000"/>
            <a:ext cx="5080000" cy="3302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/>
          <p:nvPr/>
        </p:nvSpPr>
        <p:spPr>
          <a:xfrm>
            <a:off x="762000" y="5016500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007BFF">
              <a:alpha val="10000"/>
            </a:srgbClr>
          </a:solidFill>
          <a:ln cap="flat" cmpd="sng">
            <a:solidFill>
              <a:srgbClr val="006FE6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5207000"/>
            <a:ext cx="381000" cy="381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5143500"/>
            <a:ext cx="419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行业年复合增长率 (CAGR) 达</a:t>
            </a:r>
            <a:r>
              <a:rPr lang="en-US" sz="1800" b="1" i="0" u="none" strike="noStrike">
                <a:solidFill>
                  <a:srgbClr val="FD7E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6.9%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，保持稳健增长态势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0" y="1524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1778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1714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行业持续扩容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0" y="2159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摄影服务市场从2018年的3922.5亿元增长至2022年的5254.5亿元，预计2028年将突破8000亿元大关。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3175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3429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985000" y="3365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证件照：高频刚需蓝海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0" y="3810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作为细分赛道，证件照年需求量超</a:t>
            </a:r>
            <a:r>
              <a:rPr lang="en-US" sz="1400" b="1" i="0" u="none" strike="noStrike">
                <a:solidFill>
                  <a:srgbClr val="FD7E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1亿人次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。随着隐私法规趋严，本地隐私导向的AI工具渗透空间巨大。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0" y="4826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5080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5016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43A4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首年渗透潜力预测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0" y="5461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基于市场需求与技术替代，预计首年市场渗透潜力可达</a:t>
            </a:r>
            <a:r>
              <a:rPr lang="en-US" sz="1600" b="1" i="0" u="none" strike="noStrike">
                <a:solidFill>
                  <a:srgbClr val="FD7E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5-10亿元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产品技术架构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1778000"/>
            <a:ext cx="1905000" cy="2540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007BF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7B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06500" y="2032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762000" y="2921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用户上传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支持手机/电脑端</a:t>
            </a:r>
            <a:b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上传普通自拍照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67000" y="28956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098800" y="1778000"/>
            <a:ext cx="1905000" cy="2540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007BF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7B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670300" y="2032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3225800" y="2921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人脸检测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225800" y="3302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MTCNN模型定位</a:t>
            </a:r>
            <a:b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人脸关键点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30800" y="2895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562600" y="1778000"/>
            <a:ext cx="1905000" cy="2540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007BF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7B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34100" y="2032000"/>
            <a:ext cx="762000" cy="762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689600" y="2921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智能抠图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689600" y="3302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hivision_modnet</a:t>
            </a:r>
            <a:b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处理复杂背景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4600" y="28956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026400" y="1778000"/>
            <a:ext cx="1905000" cy="2540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007BF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7B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597900" y="2032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21"/>
          <p:cNvSpPr/>
          <p:nvPr/>
        </p:nvSpPr>
        <p:spPr>
          <a:xfrm>
            <a:off x="8153400" y="2921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美颜优化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153400" y="3302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OpenCV姿态对齐</a:t>
            </a:r>
            <a:b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智能自适应美颜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0" y="28956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0490200" y="1778000"/>
            <a:ext cx="1651000" cy="2540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007BFF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7BFF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0934700" y="2032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6" name="AutoShape 26"/>
          <p:cNvSpPr/>
          <p:nvPr/>
        </p:nvSpPr>
        <p:spPr>
          <a:xfrm>
            <a:off x="10617200" y="2921000"/>
            <a:ext cx="139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智能排版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0617200" y="3302000"/>
            <a:ext cx="139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多种标准尺寸</a:t>
            </a:r>
            <a:b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输出PDF/JPG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342900" y="4953000"/>
            <a:ext cx="11506200" cy="762000"/>
          </a:xfrm>
          <a:prstGeom prst="roundRect">
            <a:avLst>
              <a:gd name="adj" fmla="val 16666"/>
            </a:avLst>
          </a:prstGeom>
          <a:solidFill>
            <a:srgbClr val="007BFF">
              <a:alpha val="8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508000" y="5080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全流程本地端智能处理，无需上传服务器，保障隐私安全；AI算法加持，实现毫秒级人脸检测与高质量抠图，输出符合300DPI打印标准的证件照文件。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704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核心创新：智能自适应美颜算法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2000" y="1778000"/>
            <a:ext cx="3302000" cy="3302000"/>
          </a:xfrm>
          <a:prstGeom prst="roundRect">
            <a:avLst>
              <a:gd name="adj" fmla="val 3846"/>
            </a:avLst>
          </a:prstGeom>
          <a:noFill/>
          <a:ln w="12700" cap="flat" cmpd="sng">
            <a:solidFill>
              <a:srgbClr val="007BFF">
                <a:alpha val="2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4445000" y="1778000"/>
            <a:ext cx="660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968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5207000" y="1930400"/>
            <a:ext cx="558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传统美颜的局限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207000" y="2286000"/>
            <a:ext cx="558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传统参数为固定值，缺乏灵活性，容易导致暗光照片偏暗、逆光照片过曝惨白，难以适配复杂环境。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3111500"/>
            <a:ext cx="660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9000" y="3302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07000" y="3263900"/>
            <a:ext cx="558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自适应美颜算法原理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207000" y="3619500"/>
            <a:ext cx="558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基于图像平均亮度分析机制，实时动态调整美白强度、亮度和对比度，实现“因地制宜”的智能优化。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45000" y="4445000"/>
            <a:ext cx="660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99000" y="4635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207000" y="4597400"/>
            <a:ext cx="558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显著的优化效果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207000" y="4953000"/>
            <a:ext cx="558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在保持自然效果的同时，显著提升复杂光照下的证件照质量，达成“所见即所得”的专业级输出标准。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969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7B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6096000"/>
            <a:ext cx="1066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696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智能影像技术研发中心 | 2026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3022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产品核心优势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2476500" cy="3302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619250" y="2032000"/>
            <a:ext cx="762000" cy="762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889000" y="2921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隐私零泄露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33655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全程在用户本地设备完成处理，人脸数据永不离开设备，符合《个人信息保护法》。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492500" y="1778000"/>
            <a:ext cx="2476500" cy="3302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349750" y="2032000"/>
            <a:ext cx="762000" cy="762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3619500" y="2921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智能自适应美颜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19500" y="33655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根据光照自动调节参数，解决固定参数弊端，零基础用户也能一键生成专业证件照。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778000"/>
            <a:ext cx="2476500" cy="3302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080250" y="2032000"/>
            <a:ext cx="762000" cy="762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6350000" y="2921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绿色低碳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33655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支持边缘设备部署，单张生成能耗极低，减少线下出行，助力碳中和目标实现。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953500" y="1778000"/>
            <a:ext cx="2476500" cy="3302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810750" y="2032000"/>
            <a:ext cx="762000" cy="762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9080500" y="2921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普惠包容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080500" y="33655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集成语音交互、大字体界面和高对比模式，让老年人、视障用户也能便捷使用。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30226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目标市场定位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4572000" cy="3302000"/>
          </a:xfrm>
          <a:prstGeom prst="roundRect">
            <a:avLst>
              <a:gd name="adj" fmla="val 3846"/>
            </a:avLst>
          </a:prstGeom>
          <a:solidFill>
            <a:srgbClr val="007BFF">
              <a:alpha val="5000"/>
            </a:srgbClr>
          </a:solidFill>
          <a:ln w="12700" cap="flat" cmpd="sng">
            <a:solidFill>
              <a:srgbClr val="007B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032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核心目标群体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540000"/>
            <a:ext cx="406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125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18-35岁 大学生、毕业生及青年职场人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隐私意识强：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注重个人信息安全与隐私保护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高频刚需：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覆盖考研、考公、求职、签证等场景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重度移动：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习惯移动端操作，追求高效便捷体验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842000" y="1778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96000" y="1968500"/>
            <a:ext cx="762000" cy="762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6985000" y="1905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考研/考公高频用户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需求特点：注重证件照的正式感与规范性，对细节要求高，追求一次通过审核。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842000" y="31115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rcRect l="12500" r="12500"/>
          <a:stretch>
            <a:fillRect/>
          </a:stretch>
        </p:blipFill>
        <p:spPr>
          <a:xfrm>
            <a:off x="6096000" y="3302000"/>
            <a:ext cx="762000" cy="762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6985000" y="32385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求职青年群体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需求特点：追求自然美颜效果，希望展现自信专业的职业形象，适配简历与网申。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842000" y="4445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096000" y="4635500"/>
            <a:ext cx="762000" cy="7620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7" name="AutoShape 17"/>
          <p:cNvSpPr/>
          <p:nvPr/>
        </p:nvSpPr>
        <p:spPr>
          <a:xfrm>
            <a:off x="6985000" y="4572000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跨境工作/学习者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需求特点：需要适配不同国家的证件照规格模板，对尺寸、背景色有特定要求。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核心价值主张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D7E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隐私安全 · 一秒专业 · 绿色便捷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5500" y="2349500"/>
            <a:ext cx="635000" cy="635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62000" y="3048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5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隐私安全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3429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本地AI守护，零泄露风险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2159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8500" y="2349500"/>
            <a:ext cx="635000" cy="635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445000" y="3048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5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一秒专业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3429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智能处理，即刻生成好证件照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2159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61500" y="2349500"/>
            <a:ext cx="635000" cy="635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128000" y="3048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5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绿色便捷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55000" y="3429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在线制作，环保高效零耗材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318000"/>
            <a:ext cx="10668000" cy="1397000"/>
          </a:xfrm>
          <a:prstGeom prst="roundRect">
            <a:avLst>
              <a:gd name="adj" fmla="val 4545"/>
            </a:avLst>
          </a:prstGeom>
          <a:solidFill>
            <a:srgbClr val="E9ECEF">
              <a:alpha val="6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45085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本地AI守护你的每一张脸，零泄露出一张好证件照。这一主张直击用户隐私痛点，同时传递高效、专业、普惠的价值，易于记忆和传播。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30226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市场进入策略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5000"/>
            </a:srgbClr>
          </a:solidFill>
          <a:ln cap="flat" cmpd="sng">
            <a:solidFill>
              <a:srgbClr val="E6CFCF">
                <a:alpha val="95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32000" y="1905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016000" y="2794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初期：校园引流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302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采用校园免费内测策略，通过社团合作、小程序二维码扫码体验快速积累种子用户。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5000"/>
            </a:srgbClr>
          </a:solidFill>
          <a:ln cap="flat" cmpd="sng">
            <a:solidFill>
              <a:srgbClr val="E6CFCF">
                <a:alpha val="95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0" y="1905000"/>
            <a:ext cx="762000" cy="762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699000" y="2794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中期：C端付费转化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3302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上线微信小程序并推出付费高级功能（9.9元/次批量或49元/年VIP），实现商业转化。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95000"/>
            </a:srgbClr>
          </a:solidFill>
          <a:ln cap="flat" cmpd="sng">
            <a:solidFill>
              <a:srgbClr val="E6CFCF">
                <a:alpha val="95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398000" y="1905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8382000" y="2794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后期：B端规模闭环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3302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拓展企业API服务，与政务平台、HR系统对接，形成B端收入闭环。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0800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007BFF">
              <a:alpha val="1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89000" y="52070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整体路径：校园引流 → C端付费 → B端规模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5029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品牌传播与用户教育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核心传播渠道矩阵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43000" y="24765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rcRect l="4682" r="4682"/>
          <a:stretch>
            <a:fillRect/>
          </a:stretch>
        </p:blipFill>
        <p:spPr>
          <a:xfrm>
            <a:off x="2413000" y="24765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683000" y="24765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1016000" y="3429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渠道策略：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以短视频平台为主阵地，覆盖抖音、B站、小红书及垂直校园论坛。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内容形式：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发布“前后对比”Demo视频直观展示效果，配合种草科普文章深度触达。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350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604000" y="1905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用户教育核心策略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24765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366000" y="24130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认知升级：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聚焦“本地AI vs 云端风险”对比，强化隐私安全认知。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信任构建：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通过公众号深度推文与直播实时演示，消除顾虑，建立信任。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604000" y="3810000"/>
            <a:ext cx="4572000" cy="508000"/>
          </a:xfrm>
          <a:prstGeom prst="roundRect">
            <a:avLst>
              <a:gd name="adj" fmla="val 12500"/>
            </a:avLst>
          </a:prstGeom>
          <a:solidFill>
            <a:srgbClr val="007B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31000" y="39370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048500" y="3911600"/>
            <a:ext cx="406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最终目标：形成高信任度的口碑裂变传播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381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SWOT分析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51435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7BF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460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1422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优势 (Strengths)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1841500"/>
            <a:ext cx="476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本地隐私零泄露技术领先，保障数据安全</a:t>
            </a:r>
            <a:endParaRPr lang="en-US" sz="1100"/>
          </a:p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开源框架成熟稳定，降低开发与维护成本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精准匹配大学生刚需，市场定位清晰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CPU高效处理能力强，响应速度快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86500" y="1270000"/>
            <a:ext cx="51435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6C757D">
                <a:alpha val="3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460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858000" y="1422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劣势 (Weaknesses)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1841500"/>
            <a:ext cx="476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初期用户教育成本较高，需培养使用习惯</a:t>
            </a:r>
            <a:endParaRPr lang="en-US" sz="1100"/>
          </a:p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功能迭代依赖自测数据集，多样性待提升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边缘设备适配需持续优化，兼容性待完善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团队初期规模较小，市场推广资源有限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3746500"/>
            <a:ext cx="51435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7BFF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3937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33500" y="38989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机会 (Opportunities)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52500" y="4318000"/>
            <a:ext cx="476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数字政务与隐私法规强力推动行业规范化</a:t>
            </a:r>
            <a:endParaRPr lang="en-US" sz="1100"/>
          </a:p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AI边缘计算市场爆发，技术需求日益增长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大学生隐私保护意识显著提升，市场潜力大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碳中和与数字包容趋势带来新的应用场景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86500" y="3746500"/>
            <a:ext cx="51435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6C757D">
                <a:alpha val="3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3937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858000" y="38989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威胁 (Threats)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4318000"/>
            <a:ext cx="476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在线App市场竞争激烈，用户获取成本上升</a:t>
            </a:r>
            <a:endParaRPr lang="en-US" sz="1100"/>
          </a:p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技术边缘case处理难度大，影响用户体验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政策监管可能进一步收紧，合规风险增加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0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经济波动可能影响用户的付费转化意愿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SWOT战略分析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476500" cy="3302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16000" y="24130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 增长战略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921000"/>
            <a:ext cx="1968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发挥本地隐私与AI技术优势，快速抢占数字化证件照市场，通过校园推广与短视频营销实现用户爆发。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92500" y="1651000"/>
            <a:ext cx="2476500" cy="3302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6500" y="1905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746500" y="24130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WO 转型战略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746500" y="2921000"/>
            <a:ext cx="1968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借助开源社区与用户反馈迭代数据集，同时开展隐私科普教育，降低用户认知与教育成本。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651000"/>
            <a:ext cx="2476500" cy="3302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1905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477000" y="24130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 防御战略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2921000"/>
            <a:ext cx="1968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以隐私零泄露为核心差异化卖点，针对在线App竞争，构建不可复制的“本地安全”品牌壁垒。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953500" y="1651000"/>
            <a:ext cx="2476500" cy="3302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07500" y="1905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207500" y="241300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WT 稳健战略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207500" y="2921000"/>
            <a:ext cx="1968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通过合规审计、敏捷开发与多元化盈利路径，持续降低外部监管压力与市场经济风险。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风险分析及应对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587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5494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技术风险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1968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风险点：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边缘case抠图精度下降；模型硬件适配不足。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3114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自建复杂场景数据集持续迭代，引入第三方模型审计。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397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587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21500" y="15494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市场风险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1968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风险点：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用户接受度低；竞争激烈；付费转化低。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23114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免费校园测试+隐私科普直播，差异化宣传“本地零泄露”。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048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238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460500" y="32004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管理风险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3619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风险点：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团队协调难；进度延误；资源分配不合理。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16000" y="39624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采用敏捷开发，每周进度周会，明确分工KPI。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3048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3238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21500" y="32004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政策与法律风险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77000" y="3619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风险点：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法规变化；监管收紧；跨境合规。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77000" y="39624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严格本地零上传设计，实时关注法规动态。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4699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4889500"/>
            <a:ext cx="355600" cy="355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460500" y="48514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外部风险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016000" y="5270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风险点：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经济下行；技术迭代快；不可抗力。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016000" y="56134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8A7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应对：</a:t>
            </a: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多元化盈利模式，保持低成本推广策略。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223000" y="4699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EBF8FF">
              <a:alpha val="9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4889500"/>
            <a:ext cx="355600" cy="3556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6921500" y="48514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总体策略与信心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477000" y="52705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我们已建立完善的风险预警与应对机制。通过技术迭代、合规设计与敏捷管理，有信心应对挑战，确保项目稳健推进。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3517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未来发展计划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302000" cy="76200"/>
          </a:xfrm>
          <a:prstGeom prst="roundRect">
            <a:avLst>
              <a:gd name="adj" fmla="val 166666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22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184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125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短期（2026年内）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794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完成微信小程序上线及封闭测试</a:t>
            </a:r>
            <a:endParaRPr lang="en-US" sz="1100"/>
          </a:p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优化无障碍功能体验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冲刺省级大赛奖项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积累首批真实用户反馈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905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1905000"/>
            <a:ext cx="3302000" cy="76200"/>
          </a:xfrm>
          <a:prstGeom prst="roundRect">
            <a:avLst>
              <a:gd name="adj" fmla="val 166666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222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07000" y="2184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125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中期（2027年）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2794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推出App多端版本及边缘适配</a:t>
            </a:r>
            <a:endParaRPr lang="en-US" sz="1100"/>
          </a:p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付费转化率提升至15%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用户规模突破30万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拓展树莓派等设备生态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1905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28000" y="1905000"/>
            <a:ext cx="3302000" cy="76200"/>
          </a:xfrm>
          <a:prstGeom prst="roundRect">
            <a:avLst>
              <a:gd name="adj" fmla="val 166666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222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90000" y="2184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125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长期（2028年后）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2794000"/>
            <a:ext cx="279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对接政务与企业API，规模化应用</a:t>
            </a:r>
            <a:endParaRPr lang="en-US" sz="1100"/>
          </a:p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用户总量达百万级，盈利200万+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推动隐私AI证件照成行业标准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08000"/>
              </a:lnSpc>
              <a:buClr>
                <a:srgbClr val="6C757D"/>
              </a:buClr>
              <a:buChar char="•"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构建本地隐私计算生态闭环</a:t>
            </a:r>
            <a:endParaRPr lang="en-US" sz="1400" b="0" i="0" u="none" strike="noStrike">
              <a:solidFill>
                <a:srgbClr val="6C757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635000"/>
            <a:ext cx="2006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团队介绍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90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125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肖清越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51000" y="22860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7B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项目负责人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667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统筹项目规划与进度，负责核心算法架构设计与技术攻关。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1905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334000" y="190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125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高泽宇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334000" y="22860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核心成员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2667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专注人工智能模型训练与优化，具备丰富的深度学习实践经验。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651000"/>
            <a:ext cx="3302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007BFF">
                <a:alpha val="3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0" y="19050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017000" y="190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125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龚剑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017000" y="22860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核心成员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2667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C75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深耕数字图像处理领域，负责算法落地与工程化实现。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064000"/>
            <a:ext cx="10668000" cy="1651000"/>
          </a:xfrm>
          <a:prstGeom prst="roundRect">
            <a:avLst>
              <a:gd name="adj" fmla="val 7692"/>
            </a:avLst>
          </a:prstGeom>
          <a:solidFill>
            <a:srgbClr val="E9ECEF">
              <a:alpha val="80000"/>
            </a:srgbClr>
          </a:solidFill>
          <a:ln w="12700" cap="flat" cmpd="sng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318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524000" y="42926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125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团队简介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16000" y="47625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950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团队成员均为高校计算机专业本科生，拥有扎实的理论基础。我们对人工智能和数字图像处理技术有深入研究，不仅具备技术创新能力，更充满创业热情，致力于通过技术手段解决实际场景中的痛点问题。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2984500"/>
            <a:ext cx="76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38BDF8">
                  <a:alpha val="100000"/>
                </a:srgbClr>
              </a:gs>
              <a:gs pos="100000">
                <a:srgbClr val="2563EB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3238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2E8F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期待与您的进一步交流与合作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3000" y="4191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064000" y="41529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2481768293@qq.com</a:t>
            </a:r>
            <a:endParaRPr lang="en-US" sz="160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4191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41529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13003139946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3746</Words>
  <Application>WPS 演示</Application>
  <PresentationFormat/>
  <Paragraphs>364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与寂寞无关</cp:lastModifiedBy>
  <cp:revision>2</cp:revision>
  <dcterms:created xsi:type="dcterms:W3CDTF">2026-04-06T13:54:16Z</dcterms:created>
  <dcterms:modified xsi:type="dcterms:W3CDTF">2026-04-06T13:55:57Z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C92E6D2FFE6C4AECA2DD56C5697802D8_12</vt:lpwstr>
  </property>
  <property fmtid="{D5CDD505-2E9C-101B-9397-08002B2CF9AE}" pid="3" name="KSOProductBuildVer">
    <vt:lpwstr>2052-12.1.0.19302</vt:lpwstr>
  </property>
</Properties>
</file>