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1.svg" ContentType="image/svg+xml"/>
  <Override PartName="/ppt/media/image103.svg" ContentType="image/svg+xml"/>
  <Override PartName="/ppt/media/image106.svg" ContentType="image/svg+xml"/>
  <Override PartName="/ppt/media/image108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9.svg" ContentType="image/svg+xml"/>
  <Override PartName="/ppt/media/image29.svg" ContentType="image/svg+xml"/>
  <Override PartName="/ppt/media/image31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3.svg" ContentType="image/svg+xml"/>
  <Override PartName="/ppt/media/image46.svg" ContentType="image/svg+xml"/>
  <Override PartName="/ppt/media/image50.svg" ContentType="image/svg+xml"/>
  <Override PartName="/ppt/media/image52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5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8"/>
    <p:sldId id="277" r:id="rId29"/>
    <p:sldId id="278" r:id="rId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ableStyles" Target="tableStyles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9.png"/><Relationship Id="rId9" Type="http://schemas.openxmlformats.org/officeDocument/2006/relationships/image" Target="../media/image10.svg"/><Relationship Id="rId10" Type="http://schemas.openxmlformats.org/officeDocument/2006/relationships/image" Target="../media/image11.png"/><Relationship Id="rId11" Type="http://schemas.openxmlformats.org/officeDocument/2006/relationships/image" Target="../media/image12.svg"/><Relationship Id="rId12" Type="http://schemas.openxmlformats.org/officeDocument/2006/relationships/image" Target="../media/image13.png"/><Relationship Id="rId13" Type="http://schemas.openxmlformats.org/officeDocument/2006/relationships/image" Target="../media/image14.svg"/><Relationship Id="rId14" Type="http://schemas.openxmlformats.org/officeDocument/2006/relationships/image" Target="../media/image15.png"/><Relationship Id="rId15" Type="http://schemas.openxmlformats.org/officeDocument/2006/relationships/image" Target="../media/image16.svg"/><Relationship Id="rId16" Type="http://schemas.openxmlformats.org/officeDocument/2006/relationships/slideLayout" Target="../slideLayouts/slideLayout12.xml"/><Relationship Id="rId1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7.jpeg"/><Relationship Id="rId3" Type="http://schemas.openxmlformats.org/officeDocument/2006/relationships/image" Target="../media/image18.png"/><Relationship Id="rId4" Type="http://schemas.openxmlformats.org/officeDocument/2006/relationships/image" Target="../media/image19.svg"/><Relationship Id="rId5" Type="http://schemas.openxmlformats.org/officeDocument/2006/relationships/image" Target="../media/image20.jpeg"/><Relationship Id="rId6" Type="http://schemas.openxmlformats.org/officeDocument/2006/relationships/slideLayout" Target="../slideLayouts/slideLayout12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21.jpeg"/><Relationship Id="rId3" Type="http://schemas.openxmlformats.org/officeDocument/2006/relationships/image" Target="../media/image22.jpeg"/><Relationship Id="rId4" Type="http://schemas.openxmlformats.org/officeDocument/2006/relationships/image" Target="../media/image23.jpe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24.jpeg"/><Relationship Id="rId3" Type="http://schemas.openxmlformats.org/officeDocument/2006/relationships/image" Target="../media/image25.jpeg"/><Relationship Id="rId4" Type="http://schemas.openxmlformats.org/officeDocument/2006/relationships/image" Target="../media/image26.jpeg"/><Relationship Id="rId5" Type="http://schemas.openxmlformats.org/officeDocument/2006/relationships/image" Target="../media/image27.jpeg"/><Relationship Id="rId6" Type="http://schemas.openxmlformats.org/officeDocument/2006/relationships/slideLayout" Target="../slideLayouts/slideLayout12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8.png"/><Relationship Id="rId5" Type="http://schemas.openxmlformats.org/officeDocument/2006/relationships/image" Target="../media/image29.svg"/><Relationship Id="rId6" Type="http://schemas.openxmlformats.org/officeDocument/2006/relationships/image" Target="../media/image30.png"/><Relationship Id="rId7" Type="http://schemas.openxmlformats.org/officeDocument/2006/relationships/image" Target="../media/image31.svg"/><Relationship Id="rId8" Type="http://schemas.openxmlformats.org/officeDocument/2006/relationships/slideLayout" Target="../slideLayouts/slideLayout12.xml"/><Relationship Id="rId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svg"/><Relationship Id="rId5" Type="http://schemas.openxmlformats.org/officeDocument/2006/relationships/image" Target="../media/image35.png"/><Relationship Id="rId6" Type="http://schemas.openxmlformats.org/officeDocument/2006/relationships/image" Target="../media/image36.svg"/><Relationship Id="rId7" Type="http://schemas.openxmlformats.org/officeDocument/2006/relationships/image" Target="../media/image37.png"/><Relationship Id="rId8" Type="http://schemas.openxmlformats.org/officeDocument/2006/relationships/image" Target="../media/image38.svg"/><Relationship Id="rId9" Type="http://schemas.openxmlformats.org/officeDocument/2006/relationships/image" Target="../media/image39.png"/><Relationship Id="rId10" Type="http://schemas.openxmlformats.org/officeDocument/2006/relationships/image" Target="../media/image40.svg"/><Relationship Id="rId11" Type="http://schemas.openxmlformats.org/officeDocument/2006/relationships/slideLayout" Target="../slideLayouts/slideLayout12.xml"/><Relationship Id="rId1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41.jpeg"/><Relationship Id="rId3" Type="http://schemas.openxmlformats.org/officeDocument/2006/relationships/image" Target="../media/image42.png"/><Relationship Id="rId4" Type="http://schemas.openxmlformats.org/officeDocument/2006/relationships/image" Target="../media/image43.svg"/><Relationship Id="rId5" Type="http://schemas.openxmlformats.org/officeDocument/2006/relationships/image" Target="../media/image44.jpeg"/><Relationship Id="rId6" Type="http://schemas.openxmlformats.org/officeDocument/2006/relationships/image" Target="../media/image45.png"/><Relationship Id="rId7" Type="http://schemas.openxmlformats.org/officeDocument/2006/relationships/image" Target="../media/image46.svg"/><Relationship Id="rId8" Type="http://schemas.openxmlformats.org/officeDocument/2006/relationships/image" Target="../media/image22.jpeg"/><Relationship Id="rId9" Type="http://schemas.openxmlformats.org/officeDocument/2006/relationships/image" Target="../media/image47.jpeg"/><Relationship Id="rId10" Type="http://schemas.openxmlformats.org/officeDocument/2006/relationships/slideLayout" Target="../slideLayouts/slideLayout12.xml"/><Relationship Id="rId11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48.jpeg"/><Relationship Id="rId3" Type="http://schemas.openxmlformats.org/officeDocument/2006/relationships/image" Target="../media/image49.png"/><Relationship Id="rId4" Type="http://schemas.openxmlformats.org/officeDocument/2006/relationships/image" Target="../media/image50.svg"/><Relationship Id="rId5" Type="http://schemas.openxmlformats.org/officeDocument/2006/relationships/image" Target="../media/image18.png"/><Relationship Id="rId6" Type="http://schemas.openxmlformats.org/officeDocument/2006/relationships/image" Target="../media/image19.svg"/><Relationship Id="rId7" Type="http://schemas.openxmlformats.org/officeDocument/2006/relationships/image" Target="../media/image51.png"/><Relationship Id="rId8" Type="http://schemas.openxmlformats.org/officeDocument/2006/relationships/image" Target="../media/image52.svg"/><Relationship Id="rId9" Type="http://schemas.openxmlformats.org/officeDocument/2006/relationships/slideLayout" Target="../slideLayouts/slideLayout12.xml"/><Relationship Id="rId10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24.jpeg"/><Relationship Id="rId3" Type="http://schemas.openxmlformats.org/officeDocument/2006/relationships/image" Target="../media/image53.jpeg"/><Relationship Id="rId4" Type="http://schemas.openxmlformats.org/officeDocument/2006/relationships/image" Target="../media/image54.jpeg"/><Relationship Id="rId5" Type="http://schemas.openxmlformats.org/officeDocument/2006/relationships/image" Target="../media/image27.jpeg"/><Relationship Id="rId6" Type="http://schemas.openxmlformats.org/officeDocument/2006/relationships/slideLayout" Target="../slideLayouts/slideLayout12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55.jpeg"/><Relationship Id="rId3" Type="http://schemas.openxmlformats.org/officeDocument/2006/relationships/image" Target="../media/image56.jpeg"/><Relationship Id="rId4" Type="http://schemas.openxmlformats.org/officeDocument/2006/relationships/image" Target="../media/image57.jpe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58.png"/><Relationship Id="rId3" Type="http://schemas.openxmlformats.org/officeDocument/2006/relationships/image" Target="../media/image14.svg"/><Relationship Id="rId4" Type="http://schemas.openxmlformats.org/officeDocument/2006/relationships/image" Target="../media/image59.png"/><Relationship Id="rId5" Type="http://schemas.openxmlformats.org/officeDocument/2006/relationships/image" Target="../media/image60.svg"/><Relationship Id="rId6" Type="http://schemas.openxmlformats.org/officeDocument/2006/relationships/image" Target="../media/image61.png"/><Relationship Id="rId7" Type="http://schemas.openxmlformats.org/officeDocument/2006/relationships/image" Target="../media/image62.svg"/><Relationship Id="rId8" Type="http://schemas.openxmlformats.org/officeDocument/2006/relationships/slideLayout" Target="../slideLayouts/slideLayout12.xml"/><Relationship Id="rId9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63.jpeg"/><Relationship Id="rId3" Type="http://schemas.openxmlformats.org/officeDocument/2006/relationships/image" Target="../media/image64.png"/><Relationship Id="rId4" Type="http://schemas.openxmlformats.org/officeDocument/2006/relationships/image" Target="../media/image65.svg"/><Relationship Id="rId5" Type="http://schemas.openxmlformats.org/officeDocument/2006/relationships/image" Target="../media/image66.jpeg"/><Relationship Id="rId6" Type="http://schemas.openxmlformats.org/officeDocument/2006/relationships/slideLayout" Target="../slideLayouts/slideLayout12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67.jpeg"/><Relationship Id="rId3" Type="http://schemas.openxmlformats.org/officeDocument/2006/relationships/image" Target="../media/image68.jpeg"/><Relationship Id="rId4" Type="http://schemas.openxmlformats.org/officeDocument/2006/relationships/image" Target="../media/image69.jpeg"/><Relationship Id="rId5" Type="http://schemas.openxmlformats.org/officeDocument/2006/relationships/image" Target="../media/image70.png"/><Relationship Id="rId6" Type="http://schemas.openxmlformats.org/officeDocument/2006/relationships/image" Target="../media/image71.svg"/><Relationship Id="rId7" Type="http://schemas.openxmlformats.org/officeDocument/2006/relationships/image" Target="../media/image72.png"/><Relationship Id="rId8" Type="http://schemas.openxmlformats.org/officeDocument/2006/relationships/image" Target="../media/image73.svg"/><Relationship Id="rId9" Type="http://schemas.openxmlformats.org/officeDocument/2006/relationships/slideLayout" Target="../slideLayouts/slideLayout12.xml"/><Relationship Id="rId10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74.png"/><Relationship Id="rId3" Type="http://schemas.openxmlformats.org/officeDocument/2006/relationships/image" Target="../media/image75.svg"/><Relationship Id="rId4" Type="http://schemas.openxmlformats.org/officeDocument/2006/relationships/image" Target="../media/image76.png"/><Relationship Id="rId5" Type="http://schemas.openxmlformats.org/officeDocument/2006/relationships/image" Target="../media/image77.svg"/><Relationship Id="rId6" Type="http://schemas.openxmlformats.org/officeDocument/2006/relationships/image" Target="../media/image78.png"/><Relationship Id="rId7" Type="http://schemas.openxmlformats.org/officeDocument/2006/relationships/image" Target="../media/image79.svg"/><Relationship Id="rId8" Type="http://schemas.openxmlformats.org/officeDocument/2006/relationships/image" Target="../media/image80.png"/><Relationship Id="rId9" Type="http://schemas.openxmlformats.org/officeDocument/2006/relationships/image" Target="../media/image81.svg"/><Relationship Id="rId10" Type="http://schemas.openxmlformats.org/officeDocument/2006/relationships/slideLayout" Target="../slideLayouts/slideLayout12.xml"/><Relationship Id="rId11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82.png"/><Relationship Id="rId3" Type="http://schemas.openxmlformats.org/officeDocument/2006/relationships/image" Target="../media/image83.svg"/><Relationship Id="rId4" Type="http://schemas.openxmlformats.org/officeDocument/2006/relationships/image" Target="../media/image84.png"/><Relationship Id="rId5" Type="http://schemas.openxmlformats.org/officeDocument/2006/relationships/image" Target="../media/image85.svg"/><Relationship Id="rId6" Type="http://schemas.openxmlformats.org/officeDocument/2006/relationships/image" Target="../media/image58.png"/><Relationship Id="rId7" Type="http://schemas.openxmlformats.org/officeDocument/2006/relationships/image" Target="../media/image14.svg"/><Relationship Id="rId8" Type="http://schemas.openxmlformats.org/officeDocument/2006/relationships/image" Target="../media/image86.png"/><Relationship Id="rId9" Type="http://schemas.openxmlformats.org/officeDocument/2006/relationships/image" Target="../media/image87.svg"/><Relationship Id="rId10" Type="http://schemas.openxmlformats.org/officeDocument/2006/relationships/slideLayout" Target="../slideLayouts/slideLayout12.xml"/><Relationship Id="rId11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88.png"/><Relationship Id="rId3" Type="http://schemas.openxmlformats.org/officeDocument/2006/relationships/image" Target="../media/image19.svg"/><Relationship Id="rId4" Type="http://schemas.openxmlformats.org/officeDocument/2006/relationships/image" Target="../media/image89.png"/><Relationship Id="rId5" Type="http://schemas.openxmlformats.org/officeDocument/2006/relationships/image" Target="../media/image90.svg"/><Relationship Id="rId6" Type="http://schemas.openxmlformats.org/officeDocument/2006/relationships/image" Target="../media/image91.png"/><Relationship Id="rId7" Type="http://schemas.openxmlformats.org/officeDocument/2006/relationships/image" Target="../media/image92.svg"/><Relationship Id="rId8" Type="http://schemas.openxmlformats.org/officeDocument/2006/relationships/image" Target="../media/image86.png"/><Relationship Id="rId9" Type="http://schemas.openxmlformats.org/officeDocument/2006/relationships/image" Target="../media/image87.svg"/><Relationship Id="rId10" Type="http://schemas.openxmlformats.org/officeDocument/2006/relationships/image" Target="../media/image93.png"/><Relationship Id="rId11" Type="http://schemas.openxmlformats.org/officeDocument/2006/relationships/image" Target="../media/image94.svg"/><Relationship Id="rId12" Type="http://schemas.openxmlformats.org/officeDocument/2006/relationships/image" Target="../media/image95.png"/><Relationship Id="rId13" Type="http://schemas.openxmlformats.org/officeDocument/2006/relationships/image" Target="../media/image96.svg"/><Relationship Id="rId14" Type="http://schemas.openxmlformats.org/officeDocument/2006/relationships/slideLayout" Target="../slideLayouts/slideLayout12.xml"/><Relationship Id="rId1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97.png"/><Relationship Id="rId3" Type="http://schemas.openxmlformats.org/officeDocument/2006/relationships/image" Target="../media/image16.svg"/><Relationship Id="rId4" Type="http://schemas.openxmlformats.org/officeDocument/2006/relationships/image" Target="../media/image89.png"/><Relationship Id="rId5" Type="http://schemas.openxmlformats.org/officeDocument/2006/relationships/image" Target="../media/image90.svg"/><Relationship Id="rId6" Type="http://schemas.openxmlformats.org/officeDocument/2006/relationships/image" Target="../media/image98.png"/><Relationship Id="rId7" Type="http://schemas.openxmlformats.org/officeDocument/2006/relationships/image" Target="../media/image99.svg"/><Relationship Id="rId8" Type="http://schemas.openxmlformats.org/officeDocument/2006/relationships/slideLayout" Target="../slideLayouts/slideLayout12.xml"/><Relationship Id="rId9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00.png"/><Relationship Id="rId3" Type="http://schemas.openxmlformats.org/officeDocument/2006/relationships/image" Target="../media/image101.svg"/><Relationship Id="rId4" Type="http://schemas.openxmlformats.org/officeDocument/2006/relationships/image" Target="../media/image102.png"/><Relationship Id="rId5" Type="http://schemas.openxmlformats.org/officeDocument/2006/relationships/image" Target="../media/image103.svg"/><Relationship Id="rId6" Type="http://schemas.openxmlformats.org/officeDocument/2006/relationships/image" Target="../media/image104.png"/><Relationship Id="rId7" Type="http://schemas.openxmlformats.org/officeDocument/2006/relationships/image" Target="../media/image4.svg"/><Relationship Id="rId8" Type="http://schemas.openxmlformats.org/officeDocument/2006/relationships/slideLayout" Target="../slideLayouts/slideLayout12.xml"/><Relationship Id="rId9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05.png"/><Relationship Id="rId3" Type="http://schemas.openxmlformats.org/officeDocument/2006/relationships/image" Target="../media/image106.svg"/><Relationship Id="rId4" Type="http://schemas.openxmlformats.org/officeDocument/2006/relationships/image" Target="../media/image107.png"/><Relationship Id="rId5" Type="http://schemas.openxmlformats.org/officeDocument/2006/relationships/image" Target="../media/image108.svg"/><Relationship Id="rId6" Type="http://schemas.openxmlformats.org/officeDocument/2006/relationships/image" Target="../media/image109.pn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1905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0"/>
              </a:srgbClr>
            </a:outerShdw>
          </a:effectLst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AI智能证件照生成与优化系统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7305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CE1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基于HivisionIDPhotos开源框架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34000" y="3365500"/>
            <a:ext cx="1524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r="2700000" algn="tl" rotWithShape="0">
              <a:srgbClr val="007BFF">
                <a:alpha val="6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08000" y="3683000"/>
            <a:ext cx="1117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8F9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团队成员：高泽宇 龚剑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8F9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项目负责人：肖清越</a:t>
            </a:r>
            <a:endParaRPr lang="en-US" sz="1600" b="0" i="0" u="none" strike="noStrike">
              <a:solidFill>
                <a:srgbClr val="F8F9F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3556000" y="1143000"/>
            <a:ext cx="7366000" cy="558800"/>
          </a:xfrm>
          <a:prstGeom prst="roundRect">
            <a:avLst>
              <a:gd name="adj" fmla="val 2272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59200" y="1270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4191000" y="1244600"/>
            <a:ext cx="635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项目概述</a:t>
            </a:r>
            <a:r>
              <a:rPr lang="en-US" sz="1400" b="0" i="0" u="none" strike="noStrike">
                <a:solidFill>
                  <a:srgbClr val="6C757D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Project Overview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556000" y="1803400"/>
            <a:ext cx="7366000" cy="558800"/>
          </a:xfrm>
          <a:prstGeom prst="roundRect">
            <a:avLst>
              <a:gd name="adj" fmla="val 2272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9200" y="19304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191000" y="1905000"/>
            <a:ext cx="635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市场痛点分析</a:t>
            </a:r>
            <a:r>
              <a:rPr lang="en-US" sz="1400" b="0" i="0" u="none" strike="noStrike">
                <a:solidFill>
                  <a:srgbClr val="6C757D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Market Pain Points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56000" y="2463800"/>
            <a:ext cx="7366000" cy="558800"/>
          </a:xfrm>
          <a:prstGeom prst="roundRect">
            <a:avLst>
              <a:gd name="adj" fmla="val 2272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59200" y="25908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191000" y="2565400"/>
            <a:ext cx="635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技术创新亮点   </a:t>
            </a:r>
            <a:r>
              <a:rPr lang="en-US" sz="1400" b="0" i="0" u="none" strike="noStrike">
                <a:solidFill>
                  <a:srgbClr val="6C757D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Technical Innovations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556000" y="3124200"/>
            <a:ext cx="7366000" cy="558800"/>
          </a:xfrm>
          <a:prstGeom prst="roundRect">
            <a:avLst>
              <a:gd name="adj" fmla="val 2272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59200" y="32512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191000" y="3225800"/>
            <a:ext cx="635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产品功能介绍   </a:t>
            </a:r>
            <a:r>
              <a:rPr lang="en-US" sz="1400" b="0" i="0" u="none" strike="noStrike">
                <a:solidFill>
                  <a:srgbClr val="6C757D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Product Features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556000" y="3784600"/>
            <a:ext cx="7366000" cy="558800"/>
          </a:xfrm>
          <a:prstGeom prst="roundRect">
            <a:avLst>
              <a:gd name="adj" fmla="val 2272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59200" y="39116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4191000" y="3886200"/>
            <a:ext cx="635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营销策略           </a:t>
            </a:r>
            <a:r>
              <a:rPr lang="en-US" sz="1400" b="0" i="0" u="none" strike="noStrike">
                <a:solidFill>
                  <a:srgbClr val="6C757D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Marketing Strategy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556000" y="4445000"/>
            <a:ext cx="7366000" cy="558800"/>
          </a:xfrm>
          <a:prstGeom prst="roundRect">
            <a:avLst>
              <a:gd name="adj" fmla="val 2272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59200" y="4572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4191000" y="4546600"/>
            <a:ext cx="635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06. SWOT分析         </a:t>
            </a:r>
            <a:r>
              <a:rPr lang="en-US" sz="1400" b="0" i="0" u="none" strike="noStrike">
                <a:solidFill>
                  <a:srgbClr val="6C757D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SWOT Analysis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556000" y="5105400"/>
            <a:ext cx="7366000" cy="558800"/>
          </a:xfrm>
          <a:prstGeom prst="roundRect">
            <a:avLst>
              <a:gd name="adj" fmla="val 2272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759200" y="52324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4191000" y="5207000"/>
            <a:ext cx="635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07. 风险分析及应对   </a:t>
            </a:r>
            <a:r>
              <a:rPr lang="en-US" sz="1400" b="0" i="0" u="none" strike="noStrike">
                <a:solidFill>
                  <a:srgbClr val="6C757D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Risk Analysis &amp; Response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201168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32000" y="2032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889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429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开发融合八大自研创新技术的AI智能证件照系统。用户上传自拍即可在本地完成全流程处理+智能合规检测，输出专业证件照，实现隐私零泄露、专业一秒出图。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0" y="2032000"/>
            <a:ext cx="762000" cy="762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572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3429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CPU推理为核心+多级模型量化，全流程&lt;1.5秒，模型体积&lt;80MB。核心创新在于25+项合规检测+隐私保护美颜+肤色自适应，确保处理速度与效果兼得。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rcRect l="16666" r="16666"/>
          <a:stretch>
            <a:fillRect/>
          </a:stretch>
        </p:blipFill>
        <p:spPr>
          <a:xfrm>
            <a:off x="9398000" y="2032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8255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社会价值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3429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预计每年帮助上亿人次节省成本和时间。通过无障碍设计+肤色自适应助力全人群实现数字平等，积极响应碳中和与数字中国战略。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108200" y="23622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791200" y="23622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474200" y="23622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TextBox 18"/>
          <p:cNvSpPr txBox="1"/>
          <p:nvPr/>
        </p:nvSpPr>
        <p:spPr>
          <a:xfrm>
            <a:off x="762000" y="35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BFF"/>
                </a:solidFill>
                <a:latin typeface="Microsoft YaHei"/>
              </a:defRPr>
            </a:pPr>
            <a:r>
              <a:t>八大技术创新全景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850000"/>
            <a:ext cx="10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YaHei"/>
              </a:defRPr>
            </a:pPr>
            <a:r>
              <a:t>在开源架构基础上，团队自研8项核心技术，形成完整的技术壁垒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0000" y="1300000"/>
            <a:ext cx="2500000" cy="23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000" y="1420000"/>
            <a:ext cx="2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Microsoft YaHei"/>
              </a:defRPr>
            </a:pPr>
            <a:r>
              <a:t>🔍  合规检测引擎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000" y="1800000"/>
            <a:ext cx="22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3A40"/>
                </a:solidFill>
                <a:latin typeface="Microsoft YaHei"/>
              </a:defRPr>
            </a:pPr>
            <a:r>
              <a:t>25+项自动检测</a:t>
            </a:r>
            <a:br/>
            <a:r>
              <a:t>ISO/ICAO标准</a:t>
            </a:r>
            <a:br/>
            <a:r>
              <a:t>全行业首创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70000" y="1300000"/>
            <a:ext cx="2500000" cy="23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0000" y="1420000"/>
            <a:ext cx="2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Microsoft YaHei"/>
              </a:defRPr>
            </a:pPr>
            <a:r>
              <a:t>✂️  级联抠图流水线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0000" y="1800000"/>
            <a:ext cx="22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3A40"/>
                </a:solidFill>
                <a:latin typeface="Microsoft YaHei"/>
              </a:defRPr>
            </a:pPr>
            <a:r>
              <a:t>Guided Filter边缘优化</a:t>
            </a:r>
            <a:br/>
            <a:r>
              <a:t>发丝通过率&gt;92%</a:t>
            </a:r>
            <a:br/>
            <a:r>
              <a:t>自适应回退机制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90000" y="1300000"/>
            <a:ext cx="2500000" cy="23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0000" y="1420000"/>
            <a:ext cx="2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Microsoft YaHei"/>
              </a:defRPr>
            </a:pPr>
            <a:r>
              <a:t>✨  隐私保护美颜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0000" y="1800000"/>
            <a:ext cx="22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3A40"/>
                </a:solidFill>
                <a:latin typeface="Microsoft YaHei"/>
              </a:defRPr>
            </a:pPr>
            <a:r>
              <a:t>本地GAN推理</a:t>
            </a:r>
            <a:br/>
            <a:r>
              <a:t>ArcFace身份保持</a:t>
            </a:r>
            <a:br/>
            <a:r>
              <a:t>模型仅5MB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10000" y="1300000"/>
            <a:ext cx="2500000" cy="23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0000" y="1420000"/>
            <a:ext cx="2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Microsoft YaHei"/>
              </a:defRPr>
            </a:pPr>
            <a:r>
              <a:t>💡  光照一致性融合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0000" y="1800000"/>
            <a:ext cx="22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3A40"/>
                </a:solidFill>
                <a:latin typeface="Microsoft YaHei"/>
              </a:defRPr>
            </a:pPr>
            <a:r>
              <a:t>球谐光照估计</a:t>
            </a:r>
            <a:br/>
            <a:r>
              <a:t>软阴影合成</a:t>
            </a:r>
            <a:br/>
            <a:r>
              <a:t>消除贴纸感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0000" y="3830000"/>
            <a:ext cx="2500000" cy="23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0000" y="3950000"/>
            <a:ext cx="2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Microsoft YaHei"/>
              </a:defRPr>
            </a:pPr>
            <a:r>
              <a:t>🎨  肤色自适应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0000" y="4330000"/>
            <a:ext cx="22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3A40"/>
                </a:solidFill>
                <a:latin typeface="Microsoft YaHei"/>
              </a:defRPr>
            </a:pPr>
            <a:r>
              <a:t>Fitzpatrick I-VI型</a:t>
            </a:r>
            <a:br/>
            <a:r>
              <a:t>肤色感知白平衡</a:t>
            </a:r>
            <a:br/>
            <a:r>
              <a:t>普惠包容设计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70000" y="3830000"/>
            <a:ext cx="2500000" cy="23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20000" y="3950000"/>
            <a:ext cx="2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Microsoft YaHei"/>
              </a:defRPr>
            </a:pPr>
            <a:r>
              <a:t>📐  拍摄实时引导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0000" y="4330000"/>
            <a:ext cx="22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3A40"/>
                </a:solidFill>
                <a:latin typeface="Microsoft YaHei"/>
              </a:defRPr>
            </a:pPr>
            <a:r>
              <a:t>姿态→表情→光照</a:t>
            </a:r>
            <a:br/>
            <a:r>
              <a:t>AR叠加层反馈</a:t>
            </a:r>
            <a:br/>
            <a:r>
              <a:t>业界首创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90000" y="3830000"/>
            <a:ext cx="2500000" cy="23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40000" y="3950000"/>
            <a:ext cx="2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Microsoft YaHei"/>
              </a:defRPr>
            </a:pPr>
            <a:r>
              <a:t>⚡  多级模型量化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40000" y="4330000"/>
            <a:ext cx="22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3A40"/>
                </a:solidFill>
                <a:latin typeface="Microsoft YaHei"/>
              </a:defRPr>
            </a:pPr>
            <a:r>
              <a:t>蒸馏→INT8→优化</a:t>
            </a:r>
            <a:br/>
            <a:r>
              <a:t>树莓派可运行</a:t>
            </a:r>
            <a:br/>
            <a:r>
              <a:t>总模型&lt;80MB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10000" y="3830000"/>
            <a:ext cx="2500000" cy="23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0000" y="3950000"/>
            <a:ext cx="2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Microsoft YaHei"/>
              </a:defRPr>
            </a:pPr>
            <a:r>
              <a:t>👔  虚拟正装换装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0000" y="4330000"/>
            <a:ext cx="22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3A40"/>
                </a:solidFill>
                <a:latin typeface="Microsoft YaHei"/>
              </a:defRPr>
            </a:pPr>
            <a:r>
              <a:t>轻量扩散模型</a:t>
            </a:r>
            <a:br/>
            <a:r>
              <a:t>全本地推理</a:t>
            </a:r>
            <a:br/>
            <a:r>
              <a:t>面部100%不变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30226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市场痛点分析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93850" y="2032000"/>
            <a:ext cx="812800" cy="81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889000" y="2921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隐私泄露风险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3655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主流在线工具普遍要求上传照片至云端，导致人脸生物信息面临滥用和泄露风险，超60%用户拒绝使用。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1778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24350" y="2032000"/>
            <a:ext cx="812800" cy="81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3619500" y="2921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操作门槛高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19500" y="33655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传统工具对复杂背景、姿态和光线处理效果差，退片率高达20%以上，用户需多次重拍或后期处理。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778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054850" y="2032000"/>
            <a:ext cx="812800" cy="81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6350000" y="2921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成本与效率低下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33655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线下照相馆收费高、耗时长，每年上亿证件照需求群体面临巨大的时间和金钱成本。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953500" y="1778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785350" y="2032000"/>
            <a:ext cx="812800" cy="81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9080500" y="2921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包容性严重不足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080500" y="33655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缺乏针对老年人、残障人士的辅助设计，加剧了数字鸿沟，使得这部分群体难以便捷使用服务。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3022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痛点形成原因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9000" y="2032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16000" y="2667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技术限制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175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现有工具过度依赖云端集中式处理，本地轻量模型开发不足，导致难以有效处理复杂场景下的边缘计算需求。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2000" y="2032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699000" y="2667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信任与悖论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3175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用户隐私意识显著提升，但对新兴AI工具信任度低；同时存在行为悖论，常为了短期便利而无奈妥协隐私安全。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0" y="2032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382000" y="2667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供需错配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3175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传统照相馆数字化转型缓慢，而在线App普遍以盈利为先，忽视隐私保护与无障碍设计，导致市场供给无法匹配用户真实需求。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334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7B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546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技术瓶颈、用户信任缺失与市场结构性失衡，共同构成了当前行业的核心痛点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3530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市场规模与潜力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24000"/>
            <a:ext cx="5080000" cy="3302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/>
          <p:nvPr/>
        </p:nvSpPr>
        <p:spPr>
          <a:xfrm>
            <a:off x="762000" y="5016500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007BFF">
              <a:alpha val="10000"/>
            </a:srgbClr>
          </a:solidFill>
          <a:ln cap="flat" cmpd="sng">
            <a:solidFill>
              <a:srgbClr val="006FE6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5207000"/>
            <a:ext cx="381000" cy="381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5143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行业年复合增长率 (CAGR) 达</a:t>
            </a:r>
            <a:r>
              <a:rPr lang="en-US" sz="1800" b="1" i="0" u="none" strike="noStrike">
                <a:solidFill>
                  <a:srgbClr val="FD7E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6.9%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，保持稳健增长态势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0" y="1524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1778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1714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行业持续扩容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0" y="2159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摄影服务市场从2018年的3922.5亿元增长至2022年的5254.5亿元，预计2028年将突破8000亿元大关。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3175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3429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985000" y="3365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证件照：高频刚需蓝海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0" y="3810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作为细分赛道，证件照年需求量超</a:t>
            </a:r>
            <a:r>
              <a:rPr lang="en-US" sz="1400" b="1" i="0" u="none" strike="noStrike">
                <a:solidFill>
                  <a:srgbClr val="FD7E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1亿人次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。随着隐私法规趋严，本地隐私导向的AI工具渗透空间巨大。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4826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5080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5016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首年渗透潜力预测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0" y="5461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基于市场需求与技术替代，预计首年市场渗透潜力可达</a:t>
            </a:r>
            <a:r>
              <a:rPr lang="en-US" sz="1600" b="1" i="0" u="none" strike="noStrike">
                <a:solidFill>
                  <a:srgbClr val="FD7E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5-10亿元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产品技术架构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1778000"/>
            <a:ext cx="1905000" cy="2540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007BF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7B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06500" y="2032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2921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用户上传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支持手机/电脑端</a:t>
            </a:r>
            <a:b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上传普通自拍照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67000" y="28956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098800" y="1778000"/>
            <a:ext cx="1905000" cy="2540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007BF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7B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670300" y="2032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3225800" y="2921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人脸检测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225800" y="3302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MTCNN模型定位</a:t>
            </a:r>
            <a:b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人脸关键点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30800" y="2895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562600" y="1778000"/>
            <a:ext cx="1905000" cy="2540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007BF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7B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34100" y="2032000"/>
            <a:ext cx="762000" cy="762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689600" y="2921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智能抠图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689600" y="3302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hivision_modnet</a:t>
            </a:r>
            <a:b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处理复杂背景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4600" y="28956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026400" y="1778000"/>
            <a:ext cx="1905000" cy="2540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007BF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7B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597900" y="2032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8153400" y="2921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美颜优化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153400" y="3302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OpenCV姿态对齐</a:t>
            </a:r>
            <a:b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智能自适应美颜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0" y="28956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0490200" y="1778000"/>
            <a:ext cx="1651000" cy="2540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007BF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7B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0934700" y="2032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" name="AutoShape 26"/>
          <p:cNvSpPr/>
          <p:nvPr/>
        </p:nvSpPr>
        <p:spPr>
          <a:xfrm>
            <a:off x="10617200" y="29210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智能排版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0617200" y="3302000"/>
            <a:ext cx="139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多种标准尺寸</a:t>
            </a:r>
            <a:b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输出PDF/JPG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342900" y="4953000"/>
            <a:ext cx="11506200" cy="762000"/>
          </a:xfrm>
          <a:prstGeom prst="roundRect">
            <a:avLst>
              <a:gd name="adj" fmla="val 16666"/>
            </a:avLst>
          </a:prstGeom>
          <a:solidFill>
            <a:srgbClr val="007BFF">
              <a:alpha val="8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508000" y="5080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全流程本地端智能处理，无需上传服务器，保障隐私安全；AI算法加持，实现毫秒级人脸检测与高质量抠图，输出符合300DPI打印标准的证件照文件。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2000" y="1778000"/>
            <a:ext cx="3302000" cy="3302000"/>
          </a:xfrm>
          <a:prstGeom prst="roundRect">
            <a:avLst>
              <a:gd name="adj" fmla="val 3846"/>
            </a:avLst>
          </a:prstGeom>
          <a:noFill/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968500"/>
            <a:ext cx="406400" cy="406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9000" y="3302000"/>
            <a:ext cx="406400" cy="406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99000" y="4635500"/>
            <a:ext cx="406400" cy="406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35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BFF"/>
                </a:solidFill>
                <a:latin typeface="Microsoft YaHei"/>
              </a:defRPr>
            </a:pPr>
            <a:r>
              <a:t>⚡ 关键技术突破：从能用到好用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85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YaHei"/>
              </a:defRPr>
            </a:pPr>
            <a:r>
              <a:t>基于开源架构的三大维度深度优化，性能与体验质的飞跃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000" y="1250000"/>
            <a:ext cx="3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BFF"/>
                </a:solidFill>
                <a:latin typeface="Microsoft YaHei"/>
              </a:defRPr>
            </a:pPr>
            <a:r>
              <a:t>抠图质量提升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0000" y="1750000"/>
            <a:ext cx="1750000" cy="280000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0000" y="1800000"/>
            <a:ext cx="1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62828"/>
                </a:solidFill>
                <a:latin typeface="Microsoft YaHei"/>
              </a:defRPr>
            </a:pPr>
            <a:r>
              <a:t>❌ 优化前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000" y="2150000"/>
            <a:ext cx="16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3A40"/>
                </a:solidFill>
                <a:latin typeface="Microsoft YaHei"/>
              </a:defRPr>
            </a:pPr>
            <a:r>
              <a:t>MODNet基础抠图</a:t>
            </a:r>
            <a:br/>
            <a:r>
              <a:t>发丝模糊/锯齿</a:t>
            </a:r>
            <a:br/>
            <a:r>
              <a:t>半透明区域失真</a:t>
            </a:r>
            <a:br/>
            <a:r>
              <a:t>通过率~75%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0000" y="2300000"/>
            <a:ext cx="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B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50000" y="1750000"/>
            <a:ext cx="1750000" cy="280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50000" y="1800000"/>
            <a:ext cx="1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A745"/>
                </a:solidFill>
                <a:latin typeface="Microsoft YaHei"/>
              </a:defRPr>
            </a:pPr>
            <a:r>
              <a:t>✅ 优化后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50000" y="2150000"/>
            <a:ext cx="16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3A40"/>
                </a:solidFill>
                <a:latin typeface="Microsoft YaHei"/>
              </a:defRPr>
            </a:pPr>
            <a:r>
              <a:t>级联精细化流水线</a:t>
            </a:r>
            <a:br/>
            <a:r>
              <a:t>Guided Filter边缘保持</a:t>
            </a:r>
            <a:br/>
            <a:r>
              <a:t>自适应置信度回退</a:t>
            </a:r>
            <a:br/>
            <a:r>
              <a:t>通过率&gt;92%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0000" y="4700000"/>
            <a:ext cx="2800000" cy="38000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0000" y="4750000"/>
            <a:ext cx="2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📈 发丝通过率</a:t>
            </a:r>
            <a:br/>
            <a:r>
              <a:t>+17%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00000" y="1250000"/>
            <a:ext cx="3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BFF"/>
                </a:solidFill>
                <a:latin typeface="Microsoft YaHei"/>
              </a:defRPr>
            </a:pPr>
            <a:r>
              <a:t>合规检测能力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00000" y="1750000"/>
            <a:ext cx="1750000" cy="280000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00000" y="1800000"/>
            <a:ext cx="1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62828"/>
                </a:solidFill>
                <a:latin typeface="Microsoft YaHei"/>
              </a:defRPr>
            </a:pPr>
            <a:r>
              <a:t>❌ 优化前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0000" y="2150000"/>
            <a:ext cx="16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3A40"/>
                </a:solidFill>
                <a:latin typeface="Microsoft YaHei"/>
              </a:defRPr>
            </a:pPr>
            <a:r>
              <a:t>无合规检测</a:t>
            </a:r>
            <a:br/>
            <a:r>
              <a:t>用户不知照片</a:t>
            </a:r>
            <a:br/>
            <a:r>
              <a:t>是否会被拒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00000" y="2300000"/>
            <a:ext cx="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B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50000" y="1750000"/>
            <a:ext cx="1750000" cy="280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0000" y="1800000"/>
            <a:ext cx="1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A745"/>
                </a:solidFill>
                <a:latin typeface="Microsoft YaHei"/>
              </a:defRPr>
            </a:pPr>
            <a:r>
              <a:t>✅ 优化后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0" y="2150000"/>
            <a:ext cx="16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3A40"/>
                </a:solidFill>
                <a:latin typeface="Microsoft YaHei"/>
              </a:defRPr>
            </a:pPr>
            <a:r>
              <a:t>25+项智能检测</a:t>
            </a:r>
            <a:br/>
            <a:r>
              <a:t>实时PASS/FAIL反馈</a:t>
            </a:r>
            <a:br/>
            <a:r>
              <a:t>具体修正建议指导</a:t>
            </a:r>
            <a:br/>
            <a:r>
              <a:t>全行业首创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00000" y="4700000"/>
            <a:ext cx="2800000" cy="38000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00000" y="4750000"/>
            <a:ext cx="2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📈 照片一次通过率</a:t>
            </a:r>
            <a:br/>
            <a:r>
              <a:t>从60%→95%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00000" y="1250000"/>
            <a:ext cx="3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BFF"/>
                </a:solidFill>
                <a:latin typeface="Microsoft YaHei"/>
              </a:defRPr>
            </a:pPr>
            <a:r>
              <a:t>模型部署效率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00000" y="1750000"/>
            <a:ext cx="1750000" cy="280000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00000" y="1800000"/>
            <a:ext cx="1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62828"/>
                </a:solidFill>
                <a:latin typeface="Microsoft YaHei"/>
              </a:defRPr>
            </a:pPr>
            <a:r>
              <a:t>❌ 优化前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00000" y="2150000"/>
            <a:ext cx="16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3A40"/>
                </a:solidFill>
                <a:latin typeface="Microsoft YaHei"/>
              </a:defRPr>
            </a:pPr>
            <a:r>
              <a:t>FP32全精度</a:t>
            </a:r>
            <a:br/>
            <a:r>
              <a:t>~42MB模型</a:t>
            </a:r>
            <a:br/>
            <a:r>
              <a:t>仅x86 CPU优化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0000" y="2300000"/>
            <a:ext cx="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B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50000" y="1750000"/>
            <a:ext cx="1750000" cy="280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50000" y="1800000"/>
            <a:ext cx="1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A745"/>
                </a:solidFill>
                <a:latin typeface="Microsoft YaHei"/>
              </a:defRPr>
            </a:pPr>
            <a:r>
              <a:t>✅ 优化后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50000" y="2150000"/>
            <a:ext cx="16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3A40"/>
                </a:solidFill>
                <a:latin typeface="Microsoft YaHei"/>
              </a:defRPr>
            </a:pPr>
            <a:r>
              <a:t>INT8量化部署</a:t>
            </a:r>
            <a:br/>
            <a:r>
              <a:t>&lt;80MB总大小</a:t>
            </a:r>
            <a:br/>
            <a:r>
              <a:t>PC/手机/树莓派全平台</a:t>
            </a:r>
            <a:br/>
            <a:r>
              <a:t>Snapdragon 480可运行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00000" y="4700000"/>
            <a:ext cx="2800000" cy="38000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00000" y="4750000"/>
            <a:ext cx="2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📈 低端设备</a:t>
            </a:r>
            <a:br/>
            <a:r>
              <a:t>流畅运行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3022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产品核心优势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619250" y="2032000"/>
            <a:ext cx="762000" cy="762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889000" y="2921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隐私零泄露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33655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全程在用户本地设备完成处理，人脸数据永不离开设备，符合《个人信息保护法》。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92500" y="1778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49750" y="2032000"/>
            <a:ext cx="762000" cy="762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3619500" y="2921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智能自适应美颜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19500" y="33655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根据光照自动调节参数，解决固定参数弊端，零基础用户也能一键生成专业证件照。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778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080250" y="2032000"/>
            <a:ext cx="762000" cy="762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6350000" y="2921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绿色低碳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33655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支持边缘设备部署，单张生成能耗极低，减少线下出行，助力碳中和目标实现。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953500" y="1778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810750" y="2032000"/>
            <a:ext cx="762000" cy="762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9080500" y="2921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普惠包容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080500" y="33655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集成语音交互、大字体界面和高对比模式，让老年人、视障用户也能便捷使用。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3022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目标市场定位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4572000" cy="3302000"/>
          </a:xfrm>
          <a:prstGeom prst="roundRect">
            <a:avLst>
              <a:gd name="adj" fmla="val 3846"/>
            </a:avLst>
          </a:prstGeom>
          <a:solidFill>
            <a:srgbClr val="007BFF">
              <a:alpha val="5000"/>
            </a:srgbClr>
          </a:solidFill>
          <a:ln w="12700" cap="flat" cmpd="sng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032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核心目标群体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540000"/>
            <a:ext cx="406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125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18-35岁 大学生、毕业生及青年职场人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隐私意识强：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注重个人信息安全与隐私保护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高频刚需：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覆盖考研、考公、求职、签证等场景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重度移动：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习惯移动端操作，追求高效便捷体验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842000" y="1778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96000" y="1968500"/>
            <a:ext cx="762000" cy="762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6985000" y="1905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考研/考公高频用户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需求特点：注重证件照的正式感与规范性，对细节要求高，追求一次通过审核。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842000" y="31115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rcRect l="12500" r="12500"/>
          <a:stretch>
            <a:fillRect/>
          </a:stretch>
        </p:blipFill>
        <p:spPr>
          <a:xfrm>
            <a:off x="6096000" y="3302000"/>
            <a:ext cx="762000" cy="762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6985000" y="3238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求职青年群体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需求特点：追求自然美颜效果，希望展现自信专业的职业形象，适配简历与网申。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842000" y="4445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096000" y="4635500"/>
            <a:ext cx="762000" cy="762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6985000" y="4572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跨境工作/学习者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需求特点：需要适配不同国家的证件照规格模板，对尺寸、背景色有特定要求。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核心价值主张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D7E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隐私安全 · 一秒专业 · 绿色便捷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5500" y="2349500"/>
            <a:ext cx="635000" cy="635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62000" y="3048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5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隐私安全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429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本地AI守护，零泄露风险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2159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8500" y="2349500"/>
            <a:ext cx="635000" cy="635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445000" y="3048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5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一秒专业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3429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智能处理，即刻生成好证件照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2159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61500" y="2349500"/>
            <a:ext cx="635000" cy="635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128000" y="3048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5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绿色便捷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55000" y="3429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在线制作，环保高效零耗材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318000"/>
            <a:ext cx="10668000" cy="1397000"/>
          </a:xfrm>
          <a:prstGeom prst="roundRect">
            <a:avLst>
              <a:gd name="adj" fmla="val 4545"/>
            </a:avLst>
          </a:prstGeom>
          <a:solidFill>
            <a:srgbClr val="E9ECEF">
              <a:alpha val="6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45085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本地AI守护你的每一张脸，零泄露出一张好证件照。这一主张直击用户隐私痛点，同时传递高效、专业、普惠的价值，易于记忆和传播。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30226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市场进入策略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5000"/>
            </a:srgbClr>
          </a:solidFill>
          <a:ln cap="flat" cmpd="sng">
            <a:solidFill>
              <a:srgbClr val="E6CFCF">
                <a:alpha val="95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32000" y="1905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16000" y="2794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初期：校园引流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302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采用校园免费内测策略，通过社团合作、小程序二维码扫码体验快速积累种子用户。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5000"/>
            </a:srgbClr>
          </a:solidFill>
          <a:ln cap="flat" cmpd="sng">
            <a:solidFill>
              <a:srgbClr val="E6CFCF">
                <a:alpha val="95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0" y="1905000"/>
            <a:ext cx="762000" cy="762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699000" y="2794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中期：C端付费转化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3302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上线微信小程序并推出付费高级功能（9.9元/次批量或49元/年VIP），实现商业转化。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5000"/>
            </a:srgbClr>
          </a:solidFill>
          <a:ln cap="flat" cmpd="sng">
            <a:solidFill>
              <a:srgbClr val="E6CFCF">
                <a:alpha val="95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398000" y="1905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8382000" y="2794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后期：B端规模闭环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3302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拓展企业API服务，与政务平台、HR系统对接，形成B端收入闭环。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0800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007BFF">
              <a:alpha val="1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89000" y="52070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整体路径：校园引流 → C端付费 → B端规模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5029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品牌传播与用户教育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核心传播渠道矩阵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43000" y="24765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 l="4682" r="4682"/>
          <a:stretch>
            <a:fillRect/>
          </a:stretch>
        </p:blipFill>
        <p:spPr>
          <a:xfrm>
            <a:off x="2413000" y="24765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683000" y="24765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1016000" y="3429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渠道策略：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以短视频平台为主阵地，覆盖抖音、B站、小红书及垂直校园论坛。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内容形式：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发布“前后对比”Demo视频直观展示效果，配合种草科普文章深度触达。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350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604000" y="1905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用户教育核心策略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24765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366000" y="24130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认知升级：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聚焦“本地AI vs 云端风险”对比，强化隐私安全认知。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信任构建：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通过公众号深度推文与直播实时演示，消除顾虑，建立信任。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604000" y="3810000"/>
            <a:ext cx="4572000" cy="508000"/>
          </a:xfrm>
          <a:prstGeom prst="roundRect">
            <a:avLst>
              <a:gd name="adj" fmla="val 12500"/>
            </a:avLst>
          </a:prstGeom>
          <a:solidFill>
            <a:srgbClr val="007B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31000" y="39370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048500" y="39116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最终目标：形成高信任度的口碑裂变传播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381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SWOT分析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51435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7BF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460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1422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 (Strengths)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1841500"/>
            <a:ext cx="476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本地隐私零泄露技术领先，保障数据安全</a:t>
            </a:r>
            <a:endParaRPr lang="en-US" sz="1100"/>
          </a:p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开源框架成熟稳定，降低开发与维护成本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精准匹配大学生刚需，市场定位清晰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CPU高效处理能力强，响应速度快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86500" y="1270000"/>
            <a:ext cx="51435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6C757D">
                <a:alpha val="3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460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858000" y="1422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劣势 (Weaknesses)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1841500"/>
            <a:ext cx="476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初期用户教育成本较高，需培养使用习惯</a:t>
            </a:r>
            <a:endParaRPr lang="en-US" sz="1100"/>
          </a:p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功能迭代依赖自测数据集，多样性待提升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边缘设备适配需持续优化，兼容性待完善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团队初期规模较小，市场推广资源有限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3746500"/>
            <a:ext cx="51435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7BF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937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33500" y="38989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机会 (Opportunities)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52500" y="4318000"/>
            <a:ext cx="476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数字政务与隐私法规强力推动行业规范化</a:t>
            </a:r>
            <a:endParaRPr lang="en-US" sz="1100"/>
          </a:p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AI边缘计算市场爆发，技术需求日益增长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大学生隐私保护意识显著提升，市场潜力大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碳中和与数字包容趋势带来新的应用场景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86500" y="3746500"/>
            <a:ext cx="51435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6C757D">
                <a:alpha val="3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3937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858000" y="38989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威胁 (Threats)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4318000"/>
            <a:ext cx="476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在线App市场竞争激烈，用户获取成本上升</a:t>
            </a:r>
            <a:endParaRPr lang="en-US" sz="1100"/>
          </a:p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技术边缘case处理难度大，影响用户体验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政策监管可能进一步收紧，合规风险增加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经济波动可能影响用户的付费转化意愿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SWOT战略分析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16000" y="24130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 增长战略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921000"/>
            <a:ext cx="1968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发挥本地隐私与AI技术优势，快速抢占数字化证件照市场，通过校园推广与短视频营销实现用户爆发。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92500" y="1651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6500" y="1905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746500" y="24130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WO 转型战略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746500" y="2921000"/>
            <a:ext cx="1968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借助开源社区与用户反馈迭代数据集，同时开展隐私科普教育，降低用户认知与教育成本。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651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1905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477000" y="24130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 防御战略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2921000"/>
            <a:ext cx="1968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以隐私零泄露为核心差异化卖点，针对在线App竞争，构建不可复制的“本地安全”品牌壁垒。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953500" y="1651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07500" y="1905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207500" y="24130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WT 稳健战略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207500" y="2921000"/>
            <a:ext cx="1968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通过合规审计、敏捷开发与多元化盈利路径，持续降低外部监管压力与市场经济风险。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风险分析及应对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587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549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技术风险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1968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风险点：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边缘case抠图精度下降；模型硬件适配不足。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3114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自建复杂场景数据集持续迭代，引入第三方模型审计。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397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587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21500" y="1549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市场风险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1968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风险点：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用户接受度低；竞争激烈；付费转化低。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23114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免费校园测试+隐私科普直播，差异化宣传“本地零泄露”。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048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238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460500" y="3200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管理风险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3619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风险点：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团队协调难；进度延误；资源分配不合理。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39624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采用敏捷开发，每周进度周会，明确分工KPI。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3048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3238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21500" y="3200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政策与法律风险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77000" y="3619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风险点：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法规变化；监管收紧；跨境合规。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0" y="39624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严格本地零上传设计，实时关注法规动态。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4699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4889500"/>
            <a:ext cx="355600" cy="355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460500" y="4851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外部风险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016000" y="5270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风险点：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经济下行；技术迭代快；不可抗力。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016000" y="56134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多元化盈利模式，保持低成本推广策略。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223000" y="4699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EBF8FF">
              <a:alpha val="9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4889500"/>
            <a:ext cx="355600" cy="3556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6921500" y="4851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总体策略与信心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477000" y="52705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我们已建立完善的风险预警与应对机制。通过技术迭代、合规设计与敏捷管理，有信心应对挑战，确保项目稳健推进。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3517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未来发展计划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302000" cy="76200"/>
          </a:xfrm>
          <a:prstGeom prst="roundRect">
            <a:avLst>
              <a:gd name="adj" fmla="val 166666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22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184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125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短期（2026年内）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794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完成合规检测引擎v1.0 + 微信小程序全功能上线</a:t>
            </a:r>
            <a:endParaRPr lang="en-US" sz="1100"/>
          </a:p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级联抠图+光照融合+拍摄引导三大模块上线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冲刺省赛金奖，申请软著2项+发明专利1项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积累首批5000用户，完成产品迭代闭环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905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905000"/>
            <a:ext cx="3302000" cy="76200"/>
          </a:xfrm>
          <a:prstGeom prst="roundRect">
            <a:avLst>
              <a:gd name="adj" fmla="val 166666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222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07000" y="2184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125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中期（2027年）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2794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推出iOS/Android端+合规检测引擎v2.0(25项全规则)</a:t>
            </a:r>
            <a:endParaRPr lang="en-US" sz="1100"/>
          </a:p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LQ-BeautyNet+虚拟换装上线，付费转化率&gt;15%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用户规模突破30万，B端API签约5家以上企业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拓展树莓派等边缘设备，推进政务合作试点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1905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0" y="1905000"/>
            <a:ext cx="3302000" cy="76200"/>
          </a:xfrm>
          <a:prstGeom prst="roundRect">
            <a:avLst>
              <a:gd name="adj" fmla="val 166666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222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90000" y="2184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125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长期（2028年后）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2794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对接政务/HR/考试报名系统API，规模化行业应用</a:t>
            </a:r>
            <a:endParaRPr lang="en-US" sz="1100"/>
          </a:p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用户总量达百万级，年营收突破300万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推动隐私AI+合规检测成为证件照行业标准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构建本地隐私AI计算生态，成为行业基础设施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2006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团队介绍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90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125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肖清越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51000" y="22860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项目负责人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667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统筹项目规划与进度，负责核心算法架构设计与技术攻关。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1905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334000" y="190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125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高泽宇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334000" y="22860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核心成员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2667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专注人工智能模型训练与优化，具备丰富的深度学习实践经验。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651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0" y="19050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017000" y="190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125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龚剑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017000" y="22860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核心成员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2667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深耕数字图像处理领域，负责算法落地与工程化实现。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064000"/>
            <a:ext cx="10668000" cy="1651000"/>
          </a:xfrm>
          <a:prstGeom prst="roundRect">
            <a:avLst>
              <a:gd name="adj" fmla="val 7692"/>
            </a:avLst>
          </a:prstGeom>
          <a:solidFill>
            <a:srgbClr val="E9ECEF">
              <a:alpha val="8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318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524000" y="42926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5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团队简介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16000" y="47625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团队成员均为高校计算机专业本科生，拥有扎实的理论基础。我们对人工智能和数字图像处理技术有深入研究，不仅具备技术创新能力，更充满创业热情，致力于通过技术手段解决实际场景中的痛点问题。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2984500"/>
            <a:ext cx="76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38BDF8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3238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2E8F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期待与您的进一步交流与合作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3000" y="4191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064000" y="41529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2481768293@qq.com</a:t>
            </a:r>
            <a:endParaRPr lang="en-US" sz="160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4191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41529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13003139946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BFF"/>
                </a:solidFill>
                <a:latin typeface="Microsoft YaHei"/>
              </a:defRPr>
            </a:pPr>
            <a:r>
              <a:t>🔍 核心创新：多标准智能合规检测引擎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YaHei"/>
              </a:defRPr>
            </a:pPr>
            <a:r>
              <a:t>全行业首创 — 自动判断证件照是否会被官方审核通过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20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3A40"/>
                </a:solidFill>
                <a:latin typeface="Microsoft YaHei"/>
              </a:defRPr>
            </a:pPr>
            <a:r>
              <a:t>25+项智能检测规则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600000"/>
            <a:ext cx="55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7BFF"/>
                </a:solidFill>
                <a:latin typeface="Microsoft YaHei"/>
              </a:rPr>
              <a:t>📏 几何检测 (5项)</a:t>
            </a:r>
          </a:p>
          <a:p>
            <a:r>
              <a:rPr sz="1100" b="0">
                <a:solidFill>
                  <a:srgbClr val="6C757D"/>
                </a:solidFill>
                <a:latin typeface="Microsoft YaHei"/>
              </a:rPr>
              <a:t>   头部占比70-80% | 眼睛水平线 | 人脸居中 | 下颚位置 | 双肩可见</a:t>
            </a:r>
          </a:p>
          <a:p>
            <a:r>
              <a:rPr sz="1100" b="0">
                <a:solidFill>
                  <a:srgbClr val="6C757D"/>
                </a:solidFill>
                <a:latin typeface="Microsoft YaHei"/>
              </a:rPr>
              <a:t/>
            </a:r>
          </a:p>
          <a:p>
            <a:r>
              <a:rPr sz="1300" b="1">
                <a:solidFill>
                  <a:srgbClr val="007BFF"/>
                </a:solidFill>
                <a:latin typeface="Microsoft YaHei"/>
              </a:rPr>
              <a:t>🔄 姿态检测 (4项)</a:t>
            </a:r>
          </a:p>
          <a:p>
            <a:r>
              <a:rPr sz="1100" b="0">
                <a:solidFill>
                  <a:srgbClr val="6C757D"/>
                </a:solidFill>
                <a:latin typeface="Microsoft YaHei"/>
              </a:rPr>
              <a:t>   偏航角&lt;5° | 俯仰角&lt;5° | 翻滚角&lt;5° | 综合姿态评分</a:t>
            </a:r>
          </a:p>
          <a:p>
            <a:r>
              <a:rPr sz="1100" b="0">
                <a:solidFill>
                  <a:srgbClr val="6C757D"/>
                </a:solidFill>
                <a:latin typeface="Microsoft YaHei"/>
              </a:rPr>
              <a:t/>
            </a:r>
          </a:p>
          <a:p>
            <a:r>
              <a:rPr sz="1300" b="1">
                <a:solidFill>
                  <a:srgbClr val="007BFF"/>
                </a:solidFill>
                <a:latin typeface="Microsoft YaHei"/>
              </a:rPr>
              <a:t>😊 面部状态检测 (7项)</a:t>
            </a:r>
          </a:p>
          <a:p>
            <a:r>
              <a:rPr sz="1100" b="0">
                <a:solidFill>
                  <a:srgbClr val="6C757D"/>
                </a:solidFill>
                <a:latin typeface="Microsoft YaHei"/>
              </a:rPr>
              <a:t>   眼睛开合 | 嘴部闭合 | 中性表情 | 眼镜反光 | 红眼 | 面部遮挡</a:t>
            </a:r>
          </a:p>
          <a:p>
            <a:r>
              <a:rPr sz="1100" b="0">
                <a:solidFill>
                  <a:srgbClr val="6C757D"/>
                </a:solidFill>
                <a:latin typeface="Microsoft YaHei"/>
              </a:rPr>
              <a:t/>
            </a:r>
          </a:p>
          <a:p>
            <a:r>
              <a:rPr sz="1300" b="1">
                <a:solidFill>
                  <a:srgbClr val="007BFF"/>
                </a:solidFill>
                <a:latin typeface="Microsoft YaHei"/>
              </a:rPr>
              <a:t>💡 光照与色彩检测 (5项)</a:t>
            </a:r>
          </a:p>
          <a:p>
            <a:r>
              <a:rPr sz="1100" b="0">
                <a:solidFill>
                  <a:srgbClr val="6C757D"/>
                </a:solidFill>
                <a:latin typeface="Microsoft YaHei"/>
              </a:rPr>
              <a:t>   面部均匀度 | 阴影检测 | 背景均匀度 | 背景色合规 | 整体对比度</a:t>
            </a:r>
          </a:p>
          <a:p>
            <a:r>
              <a:rPr sz="1100" b="0">
                <a:solidFill>
                  <a:srgbClr val="6C757D"/>
                </a:solidFill>
                <a:latin typeface="Microsoft YaHei"/>
              </a:rPr>
              <a:t/>
            </a:r>
          </a:p>
          <a:p>
            <a:r>
              <a:rPr sz="1300" b="1">
                <a:solidFill>
                  <a:srgbClr val="007BFF"/>
                </a:solidFill>
                <a:latin typeface="Microsoft YaHei"/>
              </a:rPr>
              <a:t>📊 图像质量检测 (5项)</a:t>
            </a:r>
          </a:p>
          <a:p>
            <a:r>
              <a:rPr sz="1100" b="0">
                <a:solidFill>
                  <a:srgbClr val="6C757D"/>
                </a:solidFill>
                <a:latin typeface="Microsoft YaHei"/>
              </a:rPr>
              <a:t>   分辨率≥300DPI | 清晰度 | 摩尔纹 | 压缩质量 | 色彩空间sRGB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0000" y="1200000"/>
            <a:ext cx="5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3A40"/>
                </a:solidFill>
                <a:latin typeface="Microsoft YaHei"/>
              </a:defRPr>
            </a:pPr>
            <a:r>
              <a:t>技术核心：EPnP三维姿态解算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0000" y="1600000"/>
            <a:ext cx="50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3A40"/>
                </a:solidFill>
                <a:latin typeface="Microsoft YaHei"/>
              </a:defRPr>
            </a:pPr>
            <a:r>
              <a:t>基于MediaPipe 468点人脸关键点 + 通用3D人脸模型</a:t>
            </a:r>
            <a:br/>
            <a:r>
              <a:t>通过solvePnP实时解算Yaw/Pitch/Roll三维姿态角</a:t>
            </a:r>
            <a:br/>
            <a:r>
              <a:t>精度达到±2°以内，满足ISO/IEC 19794-5标准要求</a:t>
            </a:r>
            <a:br/>
            <a:br/>
            <a:r>
              <a:t>背景均匀度检测采用K-means聚类 + Lab色彩空间</a:t>
            </a:r>
            <a:br/>
            <a:r>
              <a:t>8×8网格分块分析，精确识别阴影和色差区域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0000" y="3300000"/>
            <a:ext cx="5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3A40"/>
                </a:solidFill>
                <a:latin typeface="Microsoft YaHei"/>
              </a:defRPr>
            </a:pPr>
            <a:r>
              <a:t>vs 竞品合规检测能力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0000" y="3700000"/>
            <a:ext cx="5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3A40"/>
                </a:solidFill>
                <a:latin typeface="Microsoft YaHei"/>
              </a:defRPr>
            </a:pPr>
            <a:r>
              <a:t>                    合规检测  拍摄引导  多国标准</a:t>
            </a:r>
            <a:br/>
            <a:r>
              <a:t>本系统              ✅          ✅         ✅</a:t>
            </a:r>
            <a:br/>
            <a:r>
              <a:t>HivisionIDPhotos   ❌          ❌         ❌</a:t>
            </a:r>
            <a:br/>
            <a:r>
              <a:t>最美证件照          ❌          部分      ❌</a:t>
            </a:r>
            <a:br/>
            <a:r>
              <a:t>支付宝证件照        ❌          ❌         ❌</a:t>
            </a:r>
            <a:br/>
            <a:r>
              <a:t>传统照相馆          ❌          ❌         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0000" y="5000000"/>
            <a:ext cx="2300000" cy="40000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0000" y="5050000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⭐ 全行业首创功能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BFF"/>
                </a:solidFill>
                <a:latin typeface="Microsoft YaHei"/>
              </a:defRPr>
            </a:pPr>
            <a:r>
              <a:t>🏗️ 系统技术架构（五层设计）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2000" y="1000000"/>
            <a:ext cx="10600000" cy="9500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0000" y="108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Microsoft YaHei"/>
              </a:defRPr>
            </a:pPr>
            <a:r>
              <a:t>应用层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142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3A40"/>
                </a:solidFill>
                <a:latin typeface="Microsoft YaHei"/>
              </a:defRPr>
            </a:pPr>
            <a:r>
              <a:t>微信小程序  |  Web PWA  |  App (React Native)  |  REST API服务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2050000"/>
            <a:ext cx="10600000" cy="95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13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A745"/>
                </a:solidFill>
                <a:latin typeface="Microsoft YaHei"/>
              </a:defRPr>
            </a:pPr>
            <a:r>
              <a:t>业务编排层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47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3A40"/>
                </a:solidFill>
                <a:latin typeface="Microsoft YaHei"/>
              </a:defRPr>
            </a:pPr>
            <a:r>
              <a:t>流水线调度引擎  |  合规规则引擎  |  多国模板管理  |  用户管理系统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3100000"/>
            <a:ext cx="10600000" cy="950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318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D7E14"/>
                </a:solidFill>
                <a:latin typeface="Microsoft YaHei"/>
              </a:defRPr>
            </a:pPr>
            <a:r>
              <a:t>★ AI推理层（11个自研模块）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000" y="352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3A40"/>
                </a:solidFill>
                <a:latin typeface="Microsoft YaHei"/>
              </a:defRPr>
            </a:pPr>
            <a:r>
              <a:t>人脸检测 | 人像抠图 | 合规检测 | 隐私美颜 | 光照融合 | 肤色校准 | 换装生成 | 质量评分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4150000"/>
            <a:ext cx="10600000" cy="950000"/>
          </a:xfrm>
          <a:prstGeom prst="round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23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C27B0"/>
                </a:solidFill>
                <a:latin typeface="Microsoft YaHei"/>
              </a:defRPr>
            </a:pPr>
            <a:r>
              <a:t>推理引擎层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57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3A40"/>
                </a:solidFill>
                <a:latin typeface="Microsoft YaHei"/>
              </a:defRPr>
            </a:pPr>
            <a:r>
              <a:t>ONNX Runtime  |  OpenCV  |  NumPy  |  CoreML/NNAPI适配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5200000"/>
            <a:ext cx="10600000" cy="950000"/>
          </a:xfrm>
          <a:prstGeom prst="round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528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46E7A"/>
                </a:solidFill>
                <a:latin typeface="Microsoft YaHei"/>
              </a:defRPr>
            </a:pPr>
            <a:r>
              <a:t>硬件层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000" y="562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3A40"/>
                </a:solidFill>
                <a:latin typeface="Microsoft YaHei"/>
              </a:defRPr>
            </a:pPr>
            <a:r>
              <a:t>CPU (x86/ARM)  |  GPU (可选加速)  |  NPU (移动端神经网络)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300000"/>
            <a:ext cx="10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★ = 团队自研模块（共11个核心模块，基于开源ONNX Runtime + OpenCV推理底座）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BFF"/>
                </a:solidFill>
                <a:latin typeface="Microsoft YaHei"/>
              </a:defRPr>
            </a:pPr>
            <a:r>
              <a:t>📋 自研创新模块 vs 开源依赖（边界清晰）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75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D7E14"/>
                </a:solidFill>
                <a:latin typeface="Microsoft YaHei"/>
              </a:defRPr>
            </a:pPr>
            <a:r>
              <a:t>评委关注重点：明确标注技术来源与团队贡献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1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757D"/>
                </a:solidFill>
                <a:latin typeface="Microsoft YaHei"/>
              </a:defRPr>
            </a:pPr>
            <a:r>
              <a:t>📦 依赖的开源组件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1550000"/>
            <a:ext cx="5000000" cy="600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600000"/>
            <a:ext cx="3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3A40"/>
                </a:solidFill>
                <a:latin typeface="Microsoft YaHei"/>
              </a:defRPr>
            </a:pPr>
            <a:r>
              <a:t>MTCNN / SCRFD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0" y="1830000"/>
            <a:ext cx="4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人脸检测 (ONNX格式)  |  MIT许可证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2250000"/>
            <a:ext cx="5000000" cy="600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300000"/>
            <a:ext cx="3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3A40"/>
                </a:solidFill>
                <a:latin typeface="Microsoft YaHei"/>
              </a:defRPr>
            </a:pPr>
            <a:r>
              <a:t>MODNet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2530000"/>
            <a:ext cx="4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基础人像抠图  |  Apache 2.0许可证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2950000"/>
            <a:ext cx="5000000" cy="600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0000" y="3000000"/>
            <a:ext cx="3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3A40"/>
                </a:solidFill>
                <a:latin typeface="Microsoft YaHei"/>
              </a:defRPr>
            </a:pPr>
            <a:r>
              <a:t>ONNX 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000" y="3230000"/>
            <a:ext cx="4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跨平台推理引擎  |  MIT许可证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000" y="3650000"/>
            <a:ext cx="5000000" cy="600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0000" y="3700000"/>
            <a:ext cx="3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3A40"/>
                </a:solidFill>
                <a:latin typeface="Microsoft YaHei"/>
              </a:defRPr>
            </a:pPr>
            <a:r>
              <a:t>OpenCV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000" y="3930000"/>
            <a:ext cx="4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图像处理基础库  |  Apache 2.0许可证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4350000"/>
            <a:ext cx="5000000" cy="600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0000" y="4400000"/>
            <a:ext cx="3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3A40"/>
                </a:solidFill>
                <a:latin typeface="Microsoft YaHei"/>
              </a:defRPr>
            </a:pPr>
            <a:r>
              <a:t>MediaPipe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000" y="4630000"/>
            <a:ext cx="4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468点人脸关键点  |  Apache 2.0许可证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5050000"/>
            <a:ext cx="5000000" cy="600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000" y="5100000"/>
            <a:ext cx="3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3A40"/>
                </a:solidFill>
                <a:latin typeface="Microsoft YaHei"/>
              </a:defRPr>
            </a:pPr>
            <a:r>
              <a:t>Gradio / FastAPI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000" y="5330000"/>
            <a:ext cx="4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Web演示与API服务  |  Apache 2.0许可证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0000" y="1100000"/>
            <a:ext cx="5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BFF"/>
                </a:solidFill>
                <a:latin typeface="Microsoft YaHei"/>
              </a:defRPr>
            </a:pPr>
            <a:r>
              <a:t>🔬 团队自研创新模块 (11个)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0000" y="1550000"/>
            <a:ext cx="5500000" cy="5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0000" y="158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FF"/>
                </a:solidFill>
                <a:latin typeface="Microsoft YaHei"/>
              </a:defRPr>
            </a:pPr>
            <a:r>
              <a:t>合规检测引擎 ★★★★★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0000" y="1790000"/>
            <a:ext cx="5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25+规则 | EPnP姿态解算 | 多国标准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0000" y="2125000"/>
            <a:ext cx="5500000" cy="5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0000" y="2155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FF"/>
                </a:solidFill>
                <a:latin typeface="Microsoft YaHei"/>
              </a:defRPr>
            </a:pPr>
            <a:r>
              <a:t>级联抠图流水线 ★★★★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0000" y="2365000"/>
            <a:ext cx="5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Guided Filter | 自适应回退 | 发丝优化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0000" y="2700000"/>
            <a:ext cx="5500000" cy="5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0000" y="273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FF"/>
                </a:solidFill>
                <a:latin typeface="Microsoft YaHei"/>
              </a:defRPr>
            </a:pPr>
            <a:r>
              <a:t>LQ-BeautyNet ★★★★★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0000" y="2940000"/>
            <a:ext cx="5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轻量GAN | ArcFace身份保持 | 5MB部署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0000" y="3275000"/>
            <a:ext cx="5500000" cy="5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0000" y="3305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FF"/>
                </a:solidFill>
                <a:latin typeface="Microsoft YaHei"/>
              </a:defRPr>
            </a:pPr>
            <a:r>
              <a:t>光照一致性融合 ★★★★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0000" y="3515000"/>
            <a:ext cx="5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球谐估计 | 软阴影 | 色彩去溢出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00000" y="3850000"/>
            <a:ext cx="5500000" cy="5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50000" y="388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FF"/>
                </a:solidFill>
                <a:latin typeface="Microsoft YaHei"/>
              </a:defRPr>
            </a:pPr>
            <a:r>
              <a:t>肤色自适应管线 ★★★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50000" y="4090000"/>
            <a:ext cx="5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Fitzpatrick分类 | 肤色感知白平衡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00000" y="4425000"/>
            <a:ext cx="5500000" cy="5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50000" y="4455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FF"/>
                </a:solidFill>
                <a:latin typeface="Microsoft YaHei"/>
              </a:defRPr>
            </a:pPr>
            <a:r>
              <a:t>拍摄实时引导 ★★★★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0000" y="4665000"/>
            <a:ext cx="5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3级状态机 | AR叠加层 | 反向引导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00000" y="5000000"/>
            <a:ext cx="5500000" cy="5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50000" y="503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FF"/>
                </a:solidFill>
                <a:latin typeface="Microsoft YaHei"/>
              </a:defRPr>
            </a:pPr>
            <a:r>
              <a:t>虚拟正装换装 ★★★★★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50000" y="5240000"/>
            <a:ext cx="5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TinySD蒸馏 | 局部生成 | 面部锁定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00000" y="5575000"/>
            <a:ext cx="5500000" cy="5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50000" y="5605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FF"/>
                </a:solidFill>
                <a:latin typeface="Microsoft YaHei"/>
              </a:defRPr>
            </a:pPr>
            <a:r>
              <a:t>多级模型量化 ★★★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50000" y="5815000"/>
            <a:ext cx="5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蒸馏→INT8→图优化→运行时适配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2000" y="6350000"/>
            <a:ext cx="10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D7E14"/>
                </a:solidFill>
                <a:latin typeface="Microsoft YaHei"/>
              </a:defRPr>
            </a:pPr>
            <a:r>
              <a:t>核心原则：所有自研模块均100%本地推理，原始照片绝不上传服务器 — 隐私零泄露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3746</Words>
  <Application>WPS 演示</Application>
  <PresentationFormat/>
  <Paragraphs>364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与寂寞无关</cp:lastModifiedBy>
  <cp:revision>2</cp:revision>
  <dcterms:created xsi:type="dcterms:W3CDTF">2026-04-06T13:54:16Z</dcterms:created>
  <dcterms:modified xsi:type="dcterms:W3CDTF">2026-04-06T13:55:57Z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C92E6D2FFE6C4AECA2DD56C5697802D8_12</vt:lpwstr>
  </property>
  <property fmtid="{D5CDD505-2E9C-101B-9397-08002B2CF9AE}" pid="3" name="KSOProductBuildVer">
    <vt:lpwstr>2052-12.1.0.19302</vt:lpwstr>
  </property>
</Properties>
</file>